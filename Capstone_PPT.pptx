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8"/>
  </p:notesMasterIdLst>
  <p:sldIdLst>
    <p:sldId id="256" r:id="rId2"/>
    <p:sldId id="714" r:id="rId3"/>
    <p:sldId id="674" r:id="rId4"/>
    <p:sldId id="715" r:id="rId5"/>
    <p:sldId id="716" r:id="rId6"/>
    <p:sldId id="717" r:id="rId7"/>
    <p:sldId id="718" r:id="rId8"/>
    <p:sldId id="724" r:id="rId9"/>
    <p:sldId id="723" r:id="rId10"/>
    <p:sldId id="719" r:id="rId11"/>
    <p:sldId id="720" r:id="rId12"/>
    <p:sldId id="721" r:id="rId13"/>
    <p:sldId id="722" r:id="rId14"/>
    <p:sldId id="713" r:id="rId15"/>
    <p:sldId id="725" r:id="rId16"/>
    <p:sldId id="30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A55"/>
    <a:srgbClr val="201F58"/>
    <a:srgbClr val="1C1A56"/>
    <a:srgbClr val="25225C"/>
    <a:srgbClr val="FFFFFF"/>
    <a:srgbClr val="1F1D59"/>
    <a:srgbClr val="333F50"/>
    <a:srgbClr val="8497B0"/>
    <a:srgbClr val="8FAADC"/>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98" autoAdjust="0"/>
    <p:restoredTop sz="93447" autoAdjust="0"/>
  </p:normalViewPr>
  <p:slideViewPr>
    <p:cSldViewPr snapToGrid="0">
      <p:cViewPr varScale="1">
        <p:scale>
          <a:sx n="82" d="100"/>
          <a:sy n="82" d="100"/>
        </p:scale>
        <p:origin x="267" y="54"/>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jpe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jpe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FBB305-EE23-4749-A031-5432E406A47F}" type="doc">
      <dgm:prSet loTypeId="urn:microsoft.com/office/officeart/2008/layout/PictureStrips" loCatId="list" qsTypeId="urn:microsoft.com/office/officeart/2005/8/quickstyle/simple1" qsCatId="simple" csTypeId="urn:microsoft.com/office/officeart/2005/8/colors/colorful1" csCatId="colorful" phldr="1"/>
      <dgm:spPr/>
      <dgm:t>
        <a:bodyPr/>
        <a:lstStyle/>
        <a:p>
          <a:endParaRPr lang="en-IN"/>
        </a:p>
      </dgm:t>
    </dgm:pt>
    <dgm:pt modelId="{9866631C-CF6B-4530-B18A-328E2B7C9F54}">
      <dgm:prSet phldrT="[Text]"/>
      <dgm:spPr/>
      <dgm:t>
        <a:bodyPr/>
        <a:lstStyle/>
        <a:p>
          <a:r>
            <a:rPr lang="en-IN" dirty="0">
              <a:latin typeface="Aptos" panose="020B0004020202020204" pitchFamily="34" charset="0"/>
            </a:rPr>
            <a:t>Import Libraries</a:t>
          </a:r>
        </a:p>
      </dgm:t>
    </dgm:pt>
    <dgm:pt modelId="{2D93F8ED-BA51-46B2-915B-20E48EFE4BD3}" type="parTrans" cxnId="{D286DD7C-E5B0-4C92-B0F5-5E58CBACB026}">
      <dgm:prSet/>
      <dgm:spPr/>
      <dgm:t>
        <a:bodyPr/>
        <a:lstStyle/>
        <a:p>
          <a:endParaRPr lang="en-IN"/>
        </a:p>
      </dgm:t>
    </dgm:pt>
    <dgm:pt modelId="{B8DF852C-9A7D-449B-8CFB-1CAB29F58E04}" type="sibTrans" cxnId="{D286DD7C-E5B0-4C92-B0F5-5E58CBACB026}">
      <dgm:prSet/>
      <dgm:spPr/>
      <dgm:t>
        <a:bodyPr/>
        <a:lstStyle/>
        <a:p>
          <a:endParaRPr lang="en-IN"/>
        </a:p>
      </dgm:t>
    </dgm:pt>
    <dgm:pt modelId="{81780F83-64E1-4322-8C3A-C11E25AB39C5}">
      <dgm:prSet phldrT="[Text]"/>
      <dgm:spPr/>
      <dgm:t>
        <a:bodyPr/>
        <a:lstStyle/>
        <a:p>
          <a:r>
            <a:rPr lang="en-IN" dirty="0">
              <a:latin typeface="Aptos" panose="020B0004020202020204" pitchFamily="34" charset="0"/>
            </a:rPr>
            <a:t>Load dataset</a:t>
          </a:r>
        </a:p>
      </dgm:t>
    </dgm:pt>
    <dgm:pt modelId="{0BA2DDBD-87EA-43FE-95F1-F4FBE95BA8A6}" type="parTrans" cxnId="{225D90B0-1936-4FEB-8AD6-D1C82AD7650A}">
      <dgm:prSet/>
      <dgm:spPr/>
      <dgm:t>
        <a:bodyPr/>
        <a:lstStyle/>
        <a:p>
          <a:endParaRPr lang="en-IN"/>
        </a:p>
      </dgm:t>
    </dgm:pt>
    <dgm:pt modelId="{0A201917-9A13-4A5E-8CF7-A788D490DE1E}" type="sibTrans" cxnId="{225D90B0-1936-4FEB-8AD6-D1C82AD7650A}">
      <dgm:prSet/>
      <dgm:spPr/>
      <dgm:t>
        <a:bodyPr/>
        <a:lstStyle/>
        <a:p>
          <a:endParaRPr lang="en-IN"/>
        </a:p>
      </dgm:t>
    </dgm:pt>
    <dgm:pt modelId="{7BA4DF19-E153-4F29-A855-675AB030CCDB}">
      <dgm:prSet phldrT="[Text]"/>
      <dgm:spPr/>
      <dgm:t>
        <a:bodyPr/>
        <a:lstStyle/>
        <a:p>
          <a:r>
            <a:rPr lang="en-IN" dirty="0">
              <a:latin typeface="Aptos" panose="020B0004020202020204" pitchFamily="34" charset="0"/>
            </a:rPr>
            <a:t>Explore Data</a:t>
          </a:r>
        </a:p>
      </dgm:t>
    </dgm:pt>
    <dgm:pt modelId="{08039276-2969-4029-B47E-1BDF23E096C9}" type="parTrans" cxnId="{BCDC0DB3-63E9-4888-B4E3-DDF1D8ACFAB8}">
      <dgm:prSet/>
      <dgm:spPr/>
      <dgm:t>
        <a:bodyPr/>
        <a:lstStyle/>
        <a:p>
          <a:endParaRPr lang="en-IN"/>
        </a:p>
      </dgm:t>
    </dgm:pt>
    <dgm:pt modelId="{B968DB42-8A92-48FE-A221-B32C0BEAF890}" type="sibTrans" cxnId="{BCDC0DB3-63E9-4888-B4E3-DDF1D8ACFAB8}">
      <dgm:prSet/>
      <dgm:spPr/>
      <dgm:t>
        <a:bodyPr/>
        <a:lstStyle/>
        <a:p>
          <a:endParaRPr lang="en-IN"/>
        </a:p>
      </dgm:t>
    </dgm:pt>
    <dgm:pt modelId="{E208354F-1067-4B26-B2B3-80E942A98077}">
      <dgm:prSet/>
      <dgm:spPr/>
      <dgm:t>
        <a:bodyPr/>
        <a:lstStyle/>
        <a:p>
          <a:r>
            <a:rPr lang="en-IN" dirty="0">
              <a:latin typeface="Aptos" panose="020B0004020202020204" pitchFamily="34" charset="0"/>
            </a:rPr>
            <a:t>Data cleaning &amp; Preprocessing</a:t>
          </a:r>
        </a:p>
      </dgm:t>
    </dgm:pt>
    <dgm:pt modelId="{AB34DB28-1195-4531-B701-4F6810637E4E}" type="parTrans" cxnId="{C6AFBD06-FA51-4156-ADC3-57342FA8DB2F}">
      <dgm:prSet/>
      <dgm:spPr/>
      <dgm:t>
        <a:bodyPr/>
        <a:lstStyle/>
        <a:p>
          <a:endParaRPr lang="en-IN"/>
        </a:p>
      </dgm:t>
    </dgm:pt>
    <dgm:pt modelId="{9EA8045F-9AD0-4F6D-A613-75C5BC9D93CE}" type="sibTrans" cxnId="{C6AFBD06-FA51-4156-ADC3-57342FA8DB2F}">
      <dgm:prSet/>
      <dgm:spPr/>
      <dgm:t>
        <a:bodyPr/>
        <a:lstStyle/>
        <a:p>
          <a:endParaRPr lang="en-IN"/>
        </a:p>
      </dgm:t>
    </dgm:pt>
    <dgm:pt modelId="{BF3943F5-1A98-42EE-A756-A6F7F7422FF6}">
      <dgm:prSet/>
      <dgm:spPr/>
      <dgm:t>
        <a:bodyPr/>
        <a:lstStyle/>
        <a:p>
          <a:r>
            <a:rPr lang="en-IN" dirty="0">
              <a:latin typeface="Aptos" panose="020B0004020202020204" pitchFamily="34" charset="0"/>
            </a:rPr>
            <a:t>Handle Missing values</a:t>
          </a:r>
        </a:p>
      </dgm:t>
    </dgm:pt>
    <dgm:pt modelId="{B2D913EC-0758-4C08-B9A7-F98B981E3A10}" type="parTrans" cxnId="{AB04A779-32F9-4371-9B8D-BB2F57D198DC}">
      <dgm:prSet/>
      <dgm:spPr/>
      <dgm:t>
        <a:bodyPr/>
        <a:lstStyle/>
        <a:p>
          <a:endParaRPr lang="en-IN"/>
        </a:p>
      </dgm:t>
    </dgm:pt>
    <dgm:pt modelId="{09294E20-6ECF-404D-834E-D8C347730C49}" type="sibTrans" cxnId="{AB04A779-32F9-4371-9B8D-BB2F57D198DC}">
      <dgm:prSet/>
      <dgm:spPr/>
      <dgm:t>
        <a:bodyPr/>
        <a:lstStyle/>
        <a:p>
          <a:endParaRPr lang="en-IN"/>
        </a:p>
      </dgm:t>
    </dgm:pt>
    <dgm:pt modelId="{0621DECB-E7FE-4238-AB3E-EE303670116C}">
      <dgm:prSet/>
      <dgm:spPr/>
      <dgm:t>
        <a:bodyPr/>
        <a:lstStyle/>
        <a:p>
          <a:r>
            <a:rPr lang="en-IN" dirty="0">
              <a:latin typeface="Aptos" panose="020B0004020202020204" pitchFamily="34" charset="0"/>
            </a:rPr>
            <a:t>EDA</a:t>
          </a:r>
        </a:p>
      </dgm:t>
    </dgm:pt>
    <dgm:pt modelId="{DA8875B5-FB86-4C48-8725-5A90B759C91E}" type="parTrans" cxnId="{E0208BC6-1E48-441B-9EFA-309E4672DA9E}">
      <dgm:prSet/>
      <dgm:spPr/>
      <dgm:t>
        <a:bodyPr/>
        <a:lstStyle/>
        <a:p>
          <a:endParaRPr lang="en-IN"/>
        </a:p>
      </dgm:t>
    </dgm:pt>
    <dgm:pt modelId="{A80D1BC8-4B9A-4052-80FE-007EEFD8530A}" type="sibTrans" cxnId="{E0208BC6-1E48-441B-9EFA-309E4672DA9E}">
      <dgm:prSet/>
      <dgm:spPr/>
      <dgm:t>
        <a:bodyPr/>
        <a:lstStyle/>
        <a:p>
          <a:endParaRPr lang="en-IN"/>
        </a:p>
      </dgm:t>
    </dgm:pt>
    <dgm:pt modelId="{6EB86CEB-396D-4574-9DC6-61B5D8A00932}">
      <dgm:prSet/>
      <dgm:spPr/>
      <dgm:t>
        <a:bodyPr/>
        <a:lstStyle/>
        <a:p>
          <a:r>
            <a:rPr lang="en-IN" dirty="0">
              <a:latin typeface="Aptos" panose="020B0004020202020204" pitchFamily="34" charset="0"/>
            </a:rPr>
            <a:t>Visualisation</a:t>
          </a:r>
        </a:p>
      </dgm:t>
    </dgm:pt>
    <dgm:pt modelId="{50114830-59A2-4E5D-896B-381FA6B177EB}" type="parTrans" cxnId="{3274CC80-E868-48A2-AD6D-E9F1A46B3588}">
      <dgm:prSet/>
      <dgm:spPr/>
      <dgm:t>
        <a:bodyPr/>
        <a:lstStyle/>
        <a:p>
          <a:endParaRPr lang="en-IN"/>
        </a:p>
      </dgm:t>
    </dgm:pt>
    <dgm:pt modelId="{FB77D88A-FDFC-42F4-8BBD-82B7CD3955BA}" type="sibTrans" cxnId="{3274CC80-E868-48A2-AD6D-E9F1A46B3588}">
      <dgm:prSet/>
      <dgm:spPr/>
      <dgm:t>
        <a:bodyPr/>
        <a:lstStyle/>
        <a:p>
          <a:endParaRPr lang="en-IN"/>
        </a:p>
      </dgm:t>
    </dgm:pt>
    <dgm:pt modelId="{7B8E765E-7D24-402F-B23B-7B7AD99C6B6E}">
      <dgm:prSet/>
      <dgm:spPr/>
      <dgm:t>
        <a:bodyPr/>
        <a:lstStyle/>
        <a:p>
          <a:r>
            <a:rPr lang="en-IN" dirty="0">
              <a:latin typeface="Aptos" panose="020B0004020202020204" pitchFamily="34" charset="0"/>
            </a:rPr>
            <a:t>Split into Train &amp;Test</a:t>
          </a:r>
        </a:p>
      </dgm:t>
    </dgm:pt>
    <dgm:pt modelId="{1A0B2EBE-4444-49E2-B4A2-EF2570B451E6}" type="parTrans" cxnId="{C1AD6BE5-5B21-4D15-A320-723ADB17D9BC}">
      <dgm:prSet/>
      <dgm:spPr/>
      <dgm:t>
        <a:bodyPr/>
        <a:lstStyle/>
        <a:p>
          <a:endParaRPr lang="en-IN"/>
        </a:p>
      </dgm:t>
    </dgm:pt>
    <dgm:pt modelId="{F8D61BBA-690C-44E0-BBD3-66FC37205496}" type="sibTrans" cxnId="{C1AD6BE5-5B21-4D15-A320-723ADB17D9BC}">
      <dgm:prSet/>
      <dgm:spPr/>
      <dgm:t>
        <a:bodyPr/>
        <a:lstStyle/>
        <a:p>
          <a:endParaRPr lang="en-IN"/>
        </a:p>
      </dgm:t>
    </dgm:pt>
    <dgm:pt modelId="{4E78D8FF-BD1F-4A74-AE37-6D14258853EE}">
      <dgm:prSet/>
      <dgm:spPr/>
      <dgm:t>
        <a:bodyPr/>
        <a:lstStyle/>
        <a:p>
          <a:r>
            <a:rPr lang="en-IN" dirty="0">
              <a:latin typeface="Aptos" panose="020B0004020202020204" pitchFamily="34" charset="0"/>
            </a:rPr>
            <a:t>Model Building</a:t>
          </a:r>
        </a:p>
      </dgm:t>
    </dgm:pt>
    <dgm:pt modelId="{EB0BB2A5-2DF6-4E50-91A9-AA017F93C515}" type="parTrans" cxnId="{4D8EC421-8CA7-402D-AE90-9A7460B5DE55}">
      <dgm:prSet/>
      <dgm:spPr/>
      <dgm:t>
        <a:bodyPr/>
        <a:lstStyle/>
        <a:p>
          <a:endParaRPr lang="en-IN"/>
        </a:p>
      </dgm:t>
    </dgm:pt>
    <dgm:pt modelId="{C190A678-391B-4002-B8C9-B567C95C70E1}" type="sibTrans" cxnId="{4D8EC421-8CA7-402D-AE90-9A7460B5DE55}">
      <dgm:prSet/>
      <dgm:spPr/>
      <dgm:t>
        <a:bodyPr/>
        <a:lstStyle/>
        <a:p>
          <a:endParaRPr lang="en-IN"/>
        </a:p>
      </dgm:t>
    </dgm:pt>
    <dgm:pt modelId="{9F0743C0-3D25-4BA2-986C-CDD0458C9D10}">
      <dgm:prSet/>
      <dgm:spPr/>
      <dgm:t>
        <a:bodyPr/>
        <a:lstStyle/>
        <a:p>
          <a:r>
            <a:rPr lang="en-IN" dirty="0">
              <a:latin typeface="Aptos" panose="020B0004020202020204" pitchFamily="34" charset="0"/>
            </a:rPr>
            <a:t>Model Evaluation</a:t>
          </a:r>
        </a:p>
      </dgm:t>
    </dgm:pt>
    <dgm:pt modelId="{77A9A080-1FE8-435A-ABC0-6FDD6E990F65}" type="parTrans" cxnId="{F8EA43D3-6089-41DB-ABBE-AA91E03E4018}">
      <dgm:prSet/>
      <dgm:spPr/>
      <dgm:t>
        <a:bodyPr/>
        <a:lstStyle/>
        <a:p>
          <a:endParaRPr lang="en-IN"/>
        </a:p>
      </dgm:t>
    </dgm:pt>
    <dgm:pt modelId="{D812E9C2-DD21-4B59-97B1-73F946C66BFB}" type="sibTrans" cxnId="{F8EA43D3-6089-41DB-ABBE-AA91E03E4018}">
      <dgm:prSet/>
      <dgm:spPr/>
      <dgm:t>
        <a:bodyPr/>
        <a:lstStyle/>
        <a:p>
          <a:endParaRPr lang="en-IN"/>
        </a:p>
      </dgm:t>
    </dgm:pt>
    <dgm:pt modelId="{4E1C13C9-F018-4DE9-8A6A-D88653CC5B1E}">
      <dgm:prSet/>
      <dgm:spPr/>
      <dgm:t>
        <a:bodyPr/>
        <a:lstStyle/>
        <a:p>
          <a:r>
            <a:rPr lang="en-IN" dirty="0">
              <a:latin typeface="Aptos" panose="020B0004020202020204" pitchFamily="34" charset="0"/>
            </a:rPr>
            <a:t>Interpretation</a:t>
          </a:r>
        </a:p>
      </dgm:t>
    </dgm:pt>
    <dgm:pt modelId="{D93B38A0-B210-4A90-B769-0729C4DAE524}" type="parTrans" cxnId="{8309E898-5E45-4544-A321-97E287EF99E8}">
      <dgm:prSet/>
      <dgm:spPr/>
      <dgm:t>
        <a:bodyPr/>
        <a:lstStyle/>
        <a:p>
          <a:endParaRPr lang="en-IN"/>
        </a:p>
      </dgm:t>
    </dgm:pt>
    <dgm:pt modelId="{B0EF5C94-ACB3-40F9-ACE6-B866DC8C34B3}" type="sibTrans" cxnId="{8309E898-5E45-4544-A321-97E287EF99E8}">
      <dgm:prSet/>
      <dgm:spPr/>
      <dgm:t>
        <a:bodyPr/>
        <a:lstStyle/>
        <a:p>
          <a:endParaRPr lang="en-IN"/>
        </a:p>
      </dgm:t>
    </dgm:pt>
    <dgm:pt modelId="{5E3C769F-6BF2-4692-8E18-A5F62FA3858A}" type="pres">
      <dgm:prSet presAssocID="{6FFBB305-EE23-4749-A031-5432E406A47F}" presName="Name0" presStyleCnt="0">
        <dgm:presLayoutVars>
          <dgm:dir/>
          <dgm:resizeHandles val="exact"/>
        </dgm:presLayoutVars>
      </dgm:prSet>
      <dgm:spPr/>
    </dgm:pt>
    <dgm:pt modelId="{2C56FBA6-25D5-406A-9E57-A3AB470F2417}" type="pres">
      <dgm:prSet presAssocID="{9866631C-CF6B-4530-B18A-328E2B7C9F54}" presName="composite" presStyleCnt="0"/>
      <dgm:spPr/>
    </dgm:pt>
    <dgm:pt modelId="{D18610F5-B4E4-4352-86AC-D40853AC215C}" type="pres">
      <dgm:prSet presAssocID="{9866631C-CF6B-4530-B18A-328E2B7C9F54}" presName="rect1" presStyleLbl="trAlignAcc1" presStyleIdx="0" presStyleCnt="11">
        <dgm:presLayoutVars>
          <dgm:bulletEnabled val="1"/>
        </dgm:presLayoutVars>
      </dgm:prSet>
      <dgm:spPr/>
    </dgm:pt>
    <dgm:pt modelId="{B52118FD-E035-43A9-8E19-099D31C7D597}" type="pres">
      <dgm:prSet presAssocID="{9866631C-CF6B-4530-B18A-328E2B7C9F54}" presName="rect2" presStyleLbl="fgImgPlace1" presStyleIdx="0" presStyleCnt="11"/>
      <dgm:spPr>
        <a:blipFill>
          <a:blip xmlns:r="http://schemas.openxmlformats.org/officeDocument/2006/relationships" r:embed="rId1"/>
          <a:srcRect/>
          <a:stretch>
            <a:fillRect l="-25000" r="-25000"/>
          </a:stretch>
        </a:blipFill>
      </dgm:spPr>
    </dgm:pt>
    <dgm:pt modelId="{F019AA54-82D7-419A-878D-3670EC00CBB8}" type="pres">
      <dgm:prSet presAssocID="{B8DF852C-9A7D-449B-8CFB-1CAB29F58E04}" presName="sibTrans" presStyleCnt="0"/>
      <dgm:spPr/>
    </dgm:pt>
    <dgm:pt modelId="{712B141D-18D3-4052-A44E-7EFFE8ACBC49}" type="pres">
      <dgm:prSet presAssocID="{81780F83-64E1-4322-8C3A-C11E25AB39C5}" presName="composite" presStyleCnt="0"/>
      <dgm:spPr/>
    </dgm:pt>
    <dgm:pt modelId="{41E812FF-FA2B-4377-B2DE-6B00329B51F3}" type="pres">
      <dgm:prSet presAssocID="{81780F83-64E1-4322-8C3A-C11E25AB39C5}" presName="rect1" presStyleLbl="trAlignAcc1" presStyleIdx="1" presStyleCnt="11">
        <dgm:presLayoutVars>
          <dgm:bulletEnabled val="1"/>
        </dgm:presLayoutVars>
      </dgm:prSet>
      <dgm:spPr/>
    </dgm:pt>
    <dgm:pt modelId="{A99AC79D-4F91-4BEE-9023-9E9C1D26E0FE}" type="pres">
      <dgm:prSet presAssocID="{81780F83-64E1-4322-8C3A-C11E25AB39C5}" presName="rect2" presStyleLbl="fgImgPlace1" presStyleIdx="1" presStyleCnt="11"/>
      <dgm:spPr>
        <a:blipFill>
          <a:blip xmlns:r="http://schemas.openxmlformats.org/officeDocument/2006/relationships" r:embed="rId2"/>
          <a:srcRect/>
          <a:stretch>
            <a:fillRect l="-25000" r="-25000"/>
          </a:stretch>
        </a:blipFill>
      </dgm:spPr>
    </dgm:pt>
    <dgm:pt modelId="{5921DF6E-5A38-4E52-BB2E-F74D726A88F1}" type="pres">
      <dgm:prSet presAssocID="{0A201917-9A13-4A5E-8CF7-A788D490DE1E}" presName="sibTrans" presStyleCnt="0"/>
      <dgm:spPr/>
    </dgm:pt>
    <dgm:pt modelId="{11B42D91-080A-4CC9-8482-E39A27B17BAC}" type="pres">
      <dgm:prSet presAssocID="{7BA4DF19-E153-4F29-A855-675AB030CCDB}" presName="composite" presStyleCnt="0"/>
      <dgm:spPr/>
    </dgm:pt>
    <dgm:pt modelId="{3B83A794-4341-409B-97F0-897B9B62720A}" type="pres">
      <dgm:prSet presAssocID="{7BA4DF19-E153-4F29-A855-675AB030CCDB}" presName="rect1" presStyleLbl="trAlignAcc1" presStyleIdx="2" presStyleCnt="11">
        <dgm:presLayoutVars>
          <dgm:bulletEnabled val="1"/>
        </dgm:presLayoutVars>
      </dgm:prSet>
      <dgm:spPr/>
    </dgm:pt>
    <dgm:pt modelId="{6C6000A6-3400-463C-84D7-313886A17E25}" type="pres">
      <dgm:prSet presAssocID="{7BA4DF19-E153-4F29-A855-675AB030CCDB}" presName="rect2" presStyleLbl="fgImgPlace1" presStyleIdx="2" presStyleCnt="11"/>
      <dgm:spPr>
        <a:blipFill>
          <a:blip xmlns:r="http://schemas.openxmlformats.org/officeDocument/2006/relationships" r:embed="rId3"/>
          <a:srcRect/>
          <a:stretch>
            <a:fillRect l="-25000" r="-25000"/>
          </a:stretch>
        </a:blipFill>
      </dgm:spPr>
    </dgm:pt>
    <dgm:pt modelId="{3087A157-3A7C-400F-B4B8-3D6CE70CE6A4}" type="pres">
      <dgm:prSet presAssocID="{B968DB42-8A92-48FE-A221-B32C0BEAF890}" presName="sibTrans" presStyleCnt="0"/>
      <dgm:spPr/>
    </dgm:pt>
    <dgm:pt modelId="{B384C565-7B98-4F46-A76B-6A62A5F8557F}" type="pres">
      <dgm:prSet presAssocID="{E208354F-1067-4B26-B2B3-80E942A98077}" presName="composite" presStyleCnt="0"/>
      <dgm:spPr/>
    </dgm:pt>
    <dgm:pt modelId="{C27924E2-D60C-44F5-B776-CA9C22B88D5D}" type="pres">
      <dgm:prSet presAssocID="{E208354F-1067-4B26-B2B3-80E942A98077}" presName="rect1" presStyleLbl="trAlignAcc1" presStyleIdx="3" presStyleCnt="11">
        <dgm:presLayoutVars>
          <dgm:bulletEnabled val="1"/>
        </dgm:presLayoutVars>
      </dgm:prSet>
      <dgm:spPr/>
    </dgm:pt>
    <dgm:pt modelId="{7ECEA3A3-0593-4F88-A23A-FD1CCE859BC6}" type="pres">
      <dgm:prSet presAssocID="{E208354F-1067-4B26-B2B3-80E942A98077}" presName="rect2" presStyleLbl="fgImgPlace1" presStyleIdx="3" presStyleCnt="11"/>
      <dgm:spPr>
        <a:blipFill>
          <a:blip xmlns:r="http://schemas.openxmlformats.org/officeDocument/2006/relationships" r:embed="rId4"/>
          <a:srcRect/>
          <a:stretch>
            <a:fillRect l="-25000" r="-25000"/>
          </a:stretch>
        </a:blipFill>
      </dgm:spPr>
    </dgm:pt>
    <dgm:pt modelId="{0BAE13D4-B303-4591-AB4F-5609D7EC6DA9}" type="pres">
      <dgm:prSet presAssocID="{9EA8045F-9AD0-4F6D-A613-75C5BC9D93CE}" presName="sibTrans" presStyleCnt="0"/>
      <dgm:spPr/>
    </dgm:pt>
    <dgm:pt modelId="{1259CAE0-1021-4520-8D8C-E3FF333616A9}" type="pres">
      <dgm:prSet presAssocID="{BF3943F5-1A98-42EE-A756-A6F7F7422FF6}" presName="composite" presStyleCnt="0"/>
      <dgm:spPr/>
    </dgm:pt>
    <dgm:pt modelId="{3B78A620-E6BE-40E3-BFA9-D4E12B89FB1D}" type="pres">
      <dgm:prSet presAssocID="{BF3943F5-1A98-42EE-A756-A6F7F7422FF6}" presName="rect1" presStyleLbl="trAlignAcc1" presStyleIdx="4" presStyleCnt="11">
        <dgm:presLayoutVars>
          <dgm:bulletEnabled val="1"/>
        </dgm:presLayoutVars>
      </dgm:prSet>
      <dgm:spPr/>
    </dgm:pt>
    <dgm:pt modelId="{848A8775-81A7-4C0A-8612-B9A43BA36F76}" type="pres">
      <dgm:prSet presAssocID="{BF3943F5-1A98-42EE-A756-A6F7F7422FF6}" presName="rect2" presStyleLbl="fgImgPlace1" presStyleIdx="4" presStyleCnt="11"/>
      <dgm:spPr>
        <a:blipFill>
          <a:blip xmlns:r="http://schemas.openxmlformats.org/officeDocument/2006/relationships" r:embed="rId5">
            <a:extLst>
              <a:ext uri="{96DAC541-7B7A-43D3-8B79-37D633B846F1}">
                <asvg:svgBlip xmlns:asvg="http://schemas.microsoft.com/office/drawing/2016/SVG/main" r:embed="rId6"/>
              </a:ext>
            </a:extLst>
          </a:blip>
          <a:srcRect/>
          <a:stretch>
            <a:fillRect l="-25000" r="-25000"/>
          </a:stretch>
        </a:blipFill>
      </dgm:spPr>
      <dgm:extLst>
        <a:ext uri="{E40237B7-FDA0-4F09-8148-C483321AD2D9}">
          <dgm14:cNvPr xmlns:dgm14="http://schemas.microsoft.com/office/drawing/2010/diagram" id="0" name="" descr="Magnifying glass with solid fill"/>
        </a:ext>
      </dgm:extLst>
    </dgm:pt>
    <dgm:pt modelId="{ACB9F4AB-C492-418D-9FE7-0672338C2894}" type="pres">
      <dgm:prSet presAssocID="{09294E20-6ECF-404D-834E-D8C347730C49}" presName="sibTrans" presStyleCnt="0"/>
      <dgm:spPr/>
    </dgm:pt>
    <dgm:pt modelId="{DEA31A3F-D214-4A33-A78A-8C424A2435B0}" type="pres">
      <dgm:prSet presAssocID="{0621DECB-E7FE-4238-AB3E-EE303670116C}" presName="composite" presStyleCnt="0"/>
      <dgm:spPr/>
    </dgm:pt>
    <dgm:pt modelId="{7F647C08-56C6-4472-BEE0-F778010678D5}" type="pres">
      <dgm:prSet presAssocID="{0621DECB-E7FE-4238-AB3E-EE303670116C}" presName="rect1" presStyleLbl="trAlignAcc1" presStyleIdx="5" presStyleCnt="11">
        <dgm:presLayoutVars>
          <dgm:bulletEnabled val="1"/>
        </dgm:presLayoutVars>
      </dgm:prSet>
      <dgm:spPr/>
    </dgm:pt>
    <dgm:pt modelId="{7EF29231-1E24-4229-9B1D-0AE6E72E5254}" type="pres">
      <dgm:prSet presAssocID="{0621DECB-E7FE-4238-AB3E-EE303670116C}" presName="rect2" presStyleLbl="fgImgPlace1" presStyleIdx="5" presStyleCnt="11"/>
      <dgm:spPr>
        <a:blipFill>
          <a:blip xmlns:r="http://schemas.openxmlformats.org/officeDocument/2006/relationships" r:embed="rId7"/>
          <a:srcRect/>
          <a:stretch>
            <a:fillRect l="-25000" r="-25000"/>
          </a:stretch>
        </a:blipFill>
      </dgm:spPr>
    </dgm:pt>
    <dgm:pt modelId="{B70A6B8A-93D2-4386-B58C-ED93DF5766DC}" type="pres">
      <dgm:prSet presAssocID="{A80D1BC8-4B9A-4052-80FE-007EEFD8530A}" presName="sibTrans" presStyleCnt="0"/>
      <dgm:spPr/>
    </dgm:pt>
    <dgm:pt modelId="{D83BB2BF-0B16-429A-8DC8-44C2968D4E20}" type="pres">
      <dgm:prSet presAssocID="{6EB86CEB-396D-4574-9DC6-61B5D8A00932}" presName="composite" presStyleCnt="0"/>
      <dgm:spPr/>
    </dgm:pt>
    <dgm:pt modelId="{11460413-4955-4689-8926-262ACA001ED8}" type="pres">
      <dgm:prSet presAssocID="{6EB86CEB-396D-4574-9DC6-61B5D8A00932}" presName="rect1" presStyleLbl="trAlignAcc1" presStyleIdx="6" presStyleCnt="11">
        <dgm:presLayoutVars>
          <dgm:bulletEnabled val="1"/>
        </dgm:presLayoutVars>
      </dgm:prSet>
      <dgm:spPr/>
    </dgm:pt>
    <dgm:pt modelId="{B2ED6765-26BF-4076-9E23-BBCE9A06F5AA}" type="pres">
      <dgm:prSet presAssocID="{6EB86CEB-396D-4574-9DC6-61B5D8A00932}" presName="rect2" presStyleLbl="fgImgPlace1" presStyleIdx="6" presStyleCnt="11"/>
      <dgm:spPr>
        <a:blipFill>
          <a:blip xmlns:r="http://schemas.openxmlformats.org/officeDocument/2006/relationships" r:embed="rId8"/>
          <a:srcRect/>
          <a:stretch>
            <a:fillRect l="-25000" r="-25000"/>
          </a:stretch>
        </a:blipFill>
      </dgm:spPr>
    </dgm:pt>
    <dgm:pt modelId="{D64580EF-AAEE-46D3-8310-755FA903D6DA}" type="pres">
      <dgm:prSet presAssocID="{FB77D88A-FDFC-42F4-8BBD-82B7CD3955BA}" presName="sibTrans" presStyleCnt="0"/>
      <dgm:spPr/>
    </dgm:pt>
    <dgm:pt modelId="{CB95EC11-CE76-4EF0-BE96-F5470346369C}" type="pres">
      <dgm:prSet presAssocID="{7B8E765E-7D24-402F-B23B-7B7AD99C6B6E}" presName="composite" presStyleCnt="0"/>
      <dgm:spPr/>
    </dgm:pt>
    <dgm:pt modelId="{E6809EDF-E53E-4640-9EA3-7199880C6366}" type="pres">
      <dgm:prSet presAssocID="{7B8E765E-7D24-402F-B23B-7B7AD99C6B6E}" presName="rect1" presStyleLbl="trAlignAcc1" presStyleIdx="7" presStyleCnt="11">
        <dgm:presLayoutVars>
          <dgm:bulletEnabled val="1"/>
        </dgm:presLayoutVars>
      </dgm:prSet>
      <dgm:spPr/>
    </dgm:pt>
    <dgm:pt modelId="{A4C3CFB6-3E35-4E41-ACEC-54914AE1C5C8}" type="pres">
      <dgm:prSet presAssocID="{7B8E765E-7D24-402F-B23B-7B7AD99C6B6E}" presName="rect2" presStyleLbl="fgImgPlace1" presStyleIdx="7" presStyleCnt="11"/>
      <dgm:spPr>
        <a:blipFill>
          <a:blip xmlns:r="http://schemas.openxmlformats.org/officeDocument/2006/relationships" r:embed="rId9"/>
          <a:srcRect/>
          <a:stretch>
            <a:fillRect l="-25000" r="-25000"/>
          </a:stretch>
        </a:blipFill>
      </dgm:spPr>
    </dgm:pt>
    <dgm:pt modelId="{620E6809-1844-42A4-A46C-C8A1954C987F}" type="pres">
      <dgm:prSet presAssocID="{F8D61BBA-690C-44E0-BBD3-66FC37205496}" presName="sibTrans" presStyleCnt="0"/>
      <dgm:spPr/>
    </dgm:pt>
    <dgm:pt modelId="{D1D03A66-B936-42DD-A6E7-38385A5BFB7B}" type="pres">
      <dgm:prSet presAssocID="{4E78D8FF-BD1F-4A74-AE37-6D14258853EE}" presName="composite" presStyleCnt="0"/>
      <dgm:spPr/>
    </dgm:pt>
    <dgm:pt modelId="{3F265C5B-2486-4205-A9C0-D28E4CBD1CBA}" type="pres">
      <dgm:prSet presAssocID="{4E78D8FF-BD1F-4A74-AE37-6D14258853EE}" presName="rect1" presStyleLbl="trAlignAcc1" presStyleIdx="8" presStyleCnt="11">
        <dgm:presLayoutVars>
          <dgm:bulletEnabled val="1"/>
        </dgm:presLayoutVars>
      </dgm:prSet>
      <dgm:spPr/>
    </dgm:pt>
    <dgm:pt modelId="{8CBF5870-8DD3-44AF-BFA0-B19FF0D4E108}" type="pres">
      <dgm:prSet presAssocID="{4E78D8FF-BD1F-4A74-AE37-6D14258853EE}" presName="rect2" presStyleLbl="fgImgPlace1" presStyleIdx="8" presStyleCnt="11"/>
      <dgm:spPr>
        <a:blipFill>
          <a:blip xmlns:r="http://schemas.openxmlformats.org/officeDocument/2006/relationships" r:embed="rId10"/>
          <a:srcRect/>
          <a:stretch>
            <a:fillRect l="-25000" r="-25000"/>
          </a:stretch>
        </a:blipFill>
      </dgm:spPr>
    </dgm:pt>
    <dgm:pt modelId="{07FB3451-2AFE-4342-93B6-F8D0D86CD1FF}" type="pres">
      <dgm:prSet presAssocID="{C190A678-391B-4002-B8C9-B567C95C70E1}" presName="sibTrans" presStyleCnt="0"/>
      <dgm:spPr/>
    </dgm:pt>
    <dgm:pt modelId="{63C5E3F5-D480-4CAD-8BB8-A390D5790BAE}" type="pres">
      <dgm:prSet presAssocID="{9F0743C0-3D25-4BA2-986C-CDD0458C9D10}" presName="composite" presStyleCnt="0"/>
      <dgm:spPr/>
    </dgm:pt>
    <dgm:pt modelId="{1529A896-D1A4-4FA8-AF4B-F7C435C8DF85}" type="pres">
      <dgm:prSet presAssocID="{9F0743C0-3D25-4BA2-986C-CDD0458C9D10}" presName="rect1" presStyleLbl="trAlignAcc1" presStyleIdx="9" presStyleCnt="11">
        <dgm:presLayoutVars>
          <dgm:bulletEnabled val="1"/>
        </dgm:presLayoutVars>
      </dgm:prSet>
      <dgm:spPr/>
    </dgm:pt>
    <dgm:pt modelId="{0C37BD4C-85AD-4993-8004-73832050C07E}" type="pres">
      <dgm:prSet presAssocID="{9F0743C0-3D25-4BA2-986C-CDD0458C9D10}" presName="rect2" presStyleLbl="fgImgPlace1" presStyleIdx="9" presStyleCnt="11"/>
      <dgm:spPr>
        <a:blipFill>
          <a:blip xmlns:r="http://schemas.openxmlformats.org/officeDocument/2006/relationships" r:embed="rId11"/>
          <a:srcRect/>
          <a:stretch>
            <a:fillRect l="-63000" r="-63000"/>
          </a:stretch>
        </a:blipFill>
      </dgm:spPr>
    </dgm:pt>
    <dgm:pt modelId="{FEFF713C-E866-4100-ADB4-7096ABA33C2E}" type="pres">
      <dgm:prSet presAssocID="{D812E9C2-DD21-4B59-97B1-73F946C66BFB}" presName="sibTrans" presStyleCnt="0"/>
      <dgm:spPr/>
    </dgm:pt>
    <dgm:pt modelId="{1D7A3CC2-8BBE-4B54-AD9B-5C6DF94E4788}" type="pres">
      <dgm:prSet presAssocID="{4E1C13C9-F018-4DE9-8A6A-D88653CC5B1E}" presName="composite" presStyleCnt="0"/>
      <dgm:spPr/>
    </dgm:pt>
    <dgm:pt modelId="{E0FCBB32-A8F4-4995-BCA5-B2BC4B378840}" type="pres">
      <dgm:prSet presAssocID="{4E1C13C9-F018-4DE9-8A6A-D88653CC5B1E}" presName="rect1" presStyleLbl="trAlignAcc1" presStyleIdx="10" presStyleCnt="11">
        <dgm:presLayoutVars>
          <dgm:bulletEnabled val="1"/>
        </dgm:presLayoutVars>
      </dgm:prSet>
      <dgm:spPr/>
    </dgm:pt>
    <dgm:pt modelId="{6BA042D4-F955-4F10-8B62-68C9FF1A033B}" type="pres">
      <dgm:prSet presAssocID="{4E1C13C9-F018-4DE9-8A6A-D88653CC5B1E}" presName="rect2" presStyleLbl="fgImgPlace1" presStyleIdx="10" presStyleCnt="11"/>
      <dgm:spPr>
        <a:blipFill>
          <a:blip xmlns:r="http://schemas.openxmlformats.org/officeDocument/2006/relationships" r:embed="rId12">
            <a:extLst>
              <a:ext uri="{96DAC541-7B7A-43D3-8B79-37D633B846F1}">
                <asvg:svgBlip xmlns:asvg="http://schemas.microsoft.com/office/drawing/2016/SVG/main" r:embed="rId13"/>
              </a:ext>
            </a:extLst>
          </a:blip>
          <a:srcRect/>
          <a:stretch>
            <a:fillRect l="-25000" r="-25000"/>
          </a:stretch>
        </a:blipFill>
      </dgm:spPr>
    </dgm:pt>
  </dgm:ptLst>
  <dgm:cxnLst>
    <dgm:cxn modelId="{0DDFBA02-0DB6-40D2-B363-36155AE738C4}" type="presOf" srcId="{4E1C13C9-F018-4DE9-8A6A-D88653CC5B1E}" destId="{E0FCBB32-A8F4-4995-BCA5-B2BC4B378840}" srcOrd="0" destOrd="0" presId="urn:microsoft.com/office/officeart/2008/layout/PictureStrips"/>
    <dgm:cxn modelId="{C6AFBD06-FA51-4156-ADC3-57342FA8DB2F}" srcId="{6FFBB305-EE23-4749-A031-5432E406A47F}" destId="{E208354F-1067-4B26-B2B3-80E942A98077}" srcOrd="3" destOrd="0" parTransId="{AB34DB28-1195-4531-B701-4F6810637E4E}" sibTransId="{9EA8045F-9AD0-4F6D-A613-75C5BC9D93CE}"/>
    <dgm:cxn modelId="{878CC80D-F084-44FC-9594-D6E2DC987FA1}" type="presOf" srcId="{E208354F-1067-4B26-B2B3-80E942A98077}" destId="{C27924E2-D60C-44F5-B776-CA9C22B88D5D}" srcOrd="0" destOrd="0" presId="urn:microsoft.com/office/officeart/2008/layout/PictureStrips"/>
    <dgm:cxn modelId="{9CECE41B-76EC-4DA3-8389-1CD107648ECD}" type="presOf" srcId="{7BA4DF19-E153-4F29-A855-675AB030CCDB}" destId="{3B83A794-4341-409B-97F0-897B9B62720A}" srcOrd="0" destOrd="0" presId="urn:microsoft.com/office/officeart/2008/layout/PictureStrips"/>
    <dgm:cxn modelId="{4D8EC421-8CA7-402D-AE90-9A7460B5DE55}" srcId="{6FFBB305-EE23-4749-A031-5432E406A47F}" destId="{4E78D8FF-BD1F-4A74-AE37-6D14258853EE}" srcOrd="8" destOrd="0" parTransId="{EB0BB2A5-2DF6-4E50-91A9-AA017F93C515}" sibTransId="{C190A678-391B-4002-B8C9-B567C95C70E1}"/>
    <dgm:cxn modelId="{36849A2B-126B-4117-AD62-D298B779AA3A}" type="presOf" srcId="{0621DECB-E7FE-4238-AB3E-EE303670116C}" destId="{7F647C08-56C6-4472-BEE0-F778010678D5}" srcOrd="0" destOrd="0" presId="urn:microsoft.com/office/officeart/2008/layout/PictureStrips"/>
    <dgm:cxn modelId="{C805C534-1DEB-4185-86F3-4E0FD32D1F65}" type="presOf" srcId="{9F0743C0-3D25-4BA2-986C-CDD0458C9D10}" destId="{1529A896-D1A4-4FA8-AF4B-F7C435C8DF85}" srcOrd="0" destOrd="0" presId="urn:microsoft.com/office/officeart/2008/layout/PictureStrips"/>
    <dgm:cxn modelId="{1001A55B-4A17-4E61-9DA6-BD25BCE08E8F}" type="presOf" srcId="{6FFBB305-EE23-4749-A031-5432E406A47F}" destId="{5E3C769F-6BF2-4692-8E18-A5F62FA3858A}" srcOrd="0" destOrd="0" presId="urn:microsoft.com/office/officeart/2008/layout/PictureStrips"/>
    <dgm:cxn modelId="{98652D42-DA1B-4F80-97C2-E2219D46FAD5}" type="presOf" srcId="{BF3943F5-1A98-42EE-A756-A6F7F7422FF6}" destId="{3B78A620-E6BE-40E3-BFA9-D4E12B89FB1D}" srcOrd="0" destOrd="0" presId="urn:microsoft.com/office/officeart/2008/layout/PictureStrips"/>
    <dgm:cxn modelId="{AB04A779-32F9-4371-9B8D-BB2F57D198DC}" srcId="{6FFBB305-EE23-4749-A031-5432E406A47F}" destId="{BF3943F5-1A98-42EE-A756-A6F7F7422FF6}" srcOrd="4" destOrd="0" parTransId="{B2D913EC-0758-4C08-B9A7-F98B981E3A10}" sibTransId="{09294E20-6ECF-404D-834E-D8C347730C49}"/>
    <dgm:cxn modelId="{D286DD7C-E5B0-4C92-B0F5-5E58CBACB026}" srcId="{6FFBB305-EE23-4749-A031-5432E406A47F}" destId="{9866631C-CF6B-4530-B18A-328E2B7C9F54}" srcOrd="0" destOrd="0" parTransId="{2D93F8ED-BA51-46B2-915B-20E48EFE4BD3}" sibTransId="{B8DF852C-9A7D-449B-8CFB-1CAB29F58E04}"/>
    <dgm:cxn modelId="{39AE2C7F-BADC-44E4-9A50-D2B38FD305E4}" type="presOf" srcId="{6EB86CEB-396D-4574-9DC6-61B5D8A00932}" destId="{11460413-4955-4689-8926-262ACA001ED8}" srcOrd="0" destOrd="0" presId="urn:microsoft.com/office/officeart/2008/layout/PictureStrips"/>
    <dgm:cxn modelId="{3274CC80-E868-48A2-AD6D-E9F1A46B3588}" srcId="{6FFBB305-EE23-4749-A031-5432E406A47F}" destId="{6EB86CEB-396D-4574-9DC6-61B5D8A00932}" srcOrd="6" destOrd="0" parTransId="{50114830-59A2-4E5D-896B-381FA6B177EB}" sibTransId="{FB77D88A-FDFC-42F4-8BBD-82B7CD3955BA}"/>
    <dgm:cxn modelId="{8309E898-5E45-4544-A321-97E287EF99E8}" srcId="{6FFBB305-EE23-4749-A031-5432E406A47F}" destId="{4E1C13C9-F018-4DE9-8A6A-D88653CC5B1E}" srcOrd="10" destOrd="0" parTransId="{D93B38A0-B210-4A90-B769-0729C4DAE524}" sibTransId="{B0EF5C94-ACB3-40F9-ACE6-B866DC8C34B3}"/>
    <dgm:cxn modelId="{225D90B0-1936-4FEB-8AD6-D1C82AD7650A}" srcId="{6FFBB305-EE23-4749-A031-5432E406A47F}" destId="{81780F83-64E1-4322-8C3A-C11E25AB39C5}" srcOrd="1" destOrd="0" parTransId="{0BA2DDBD-87EA-43FE-95F1-F4FBE95BA8A6}" sibTransId="{0A201917-9A13-4A5E-8CF7-A788D490DE1E}"/>
    <dgm:cxn modelId="{BCDC0DB3-63E9-4888-B4E3-DDF1D8ACFAB8}" srcId="{6FFBB305-EE23-4749-A031-5432E406A47F}" destId="{7BA4DF19-E153-4F29-A855-675AB030CCDB}" srcOrd="2" destOrd="0" parTransId="{08039276-2969-4029-B47E-1BDF23E096C9}" sibTransId="{B968DB42-8A92-48FE-A221-B32C0BEAF890}"/>
    <dgm:cxn modelId="{37A31DBD-17CA-4E21-8117-219DAB2EEDC3}" type="presOf" srcId="{4E78D8FF-BD1F-4A74-AE37-6D14258853EE}" destId="{3F265C5B-2486-4205-A9C0-D28E4CBD1CBA}" srcOrd="0" destOrd="0" presId="urn:microsoft.com/office/officeart/2008/layout/PictureStrips"/>
    <dgm:cxn modelId="{E0208BC6-1E48-441B-9EFA-309E4672DA9E}" srcId="{6FFBB305-EE23-4749-A031-5432E406A47F}" destId="{0621DECB-E7FE-4238-AB3E-EE303670116C}" srcOrd="5" destOrd="0" parTransId="{DA8875B5-FB86-4C48-8725-5A90B759C91E}" sibTransId="{A80D1BC8-4B9A-4052-80FE-007EEFD8530A}"/>
    <dgm:cxn modelId="{C1BB94C7-E537-481B-90D0-D6C0D52F01FA}" type="presOf" srcId="{81780F83-64E1-4322-8C3A-C11E25AB39C5}" destId="{41E812FF-FA2B-4377-B2DE-6B00329B51F3}" srcOrd="0" destOrd="0" presId="urn:microsoft.com/office/officeart/2008/layout/PictureStrips"/>
    <dgm:cxn modelId="{7CE9D2D0-8329-4B22-A587-EAD35FF4C4F9}" type="presOf" srcId="{7B8E765E-7D24-402F-B23B-7B7AD99C6B6E}" destId="{E6809EDF-E53E-4640-9EA3-7199880C6366}" srcOrd="0" destOrd="0" presId="urn:microsoft.com/office/officeart/2008/layout/PictureStrips"/>
    <dgm:cxn modelId="{F8EA43D3-6089-41DB-ABBE-AA91E03E4018}" srcId="{6FFBB305-EE23-4749-A031-5432E406A47F}" destId="{9F0743C0-3D25-4BA2-986C-CDD0458C9D10}" srcOrd="9" destOrd="0" parTransId="{77A9A080-1FE8-435A-ABC0-6FDD6E990F65}" sibTransId="{D812E9C2-DD21-4B59-97B1-73F946C66BFB}"/>
    <dgm:cxn modelId="{C1AD6BE5-5B21-4D15-A320-723ADB17D9BC}" srcId="{6FFBB305-EE23-4749-A031-5432E406A47F}" destId="{7B8E765E-7D24-402F-B23B-7B7AD99C6B6E}" srcOrd="7" destOrd="0" parTransId="{1A0B2EBE-4444-49E2-B4A2-EF2570B451E6}" sibTransId="{F8D61BBA-690C-44E0-BBD3-66FC37205496}"/>
    <dgm:cxn modelId="{768108F4-0627-4010-8FC3-B9CE13CA6688}" type="presOf" srcId="{9866631C-CF6B-4530-B18A-328E2B7C9F54}" destId="{D18610F5-B4E4-4352-86AC-D40853AC215C}" srcOrd="0" destOrd="0" presId="urn:microsoft.com/office/officeart/2008/layout/PictureStrips"/>
    <dgm:cxn modelId="{A41A200E-E084-499B-B885-9580836C1C8B}" type="presParOf" srcId="{5E3C769F-6BF2-4692-8E18-A5F62FA3858A}" destId="{2C56FBA6-25D5-406A-9E57-A3AB470F2417}" srcOrd="0" destOrd="0" presId="urn:microsoft.com/office/officeart/2008/layout/PictureStrips"/>
    <dgm:cxn modelId="{E65F6DA6-07C1-4CB7-A42D-89B71A4F08E8}" type="presParOf" srcId="{2C56FBA6-25D5-406A-9E57-A3AB470F2417}" destId="{D18610F5-B4E4-4352-86AC-D40853AC215C}" srcOrd="0" destOrd="0" presId="urn:microsoft.com/office/officeart/2008/layout/PictureStrips"/>
    <dgm:cxn modelId="{093C098D-6BFD-4C9A-8DAC-CC24905E34CB}" type="presParOf" srcId="{2C56FBA6-25D5-406A-9E57-A3AB470F2417}" destId="{B52118FD-E035-43A9-8E19-099D31C7D597}" srcOrd="1" destOrd="0" presId="urn:microsoft.com/office/officeart/2008/layout/PictureStrips"/>
    <dgm:cxn modelId="{54ACA655-4F4F-46F8-9FFD-A7CE706EA91F}" type="presParOf" srcId="{5E3C769F-6BF2-4692-8E18-A5F62FA3858A}" destId="{F019AA54-82D7-419A-878D-3670EC00CBB8}" srcOrd="1" destOrd="0" presId="urn:microsoft.com/office/officeart/2008/layout/PictureStrips"/>
    <dgm:cxn modelId="{7B5B4B7F-C54C-41DE-9699-8E728DC453FF}" type="presParOf" srcId="{5E3C769F-6BF2-4692-8E18-A5F62FA3858A}" destId="{712B141D-18D3-4052-A44E-7EFFE8ACBC49}" srcOrd="2" destOrd="0" presId="urn:microsoft.com/office/officeart/2008/layout/PictureStrips"/>
    <dgm:cxn modelId="{AC4BEB26-8873-4878-8725-A84B75BEC22E}" type="presParOf" srcId="{712B141D-18D3-4052-A44E-7EFFE8ACBC49}" destId="{41E812FF-FA2B-4377-B2DE-6B00329B51F3}" srcOrd="0" destOrd="0" presId="urn:microsoft.com/office/officeart/2008/layout/PictureStrips"/>
    <dgm:cxn modelId="{A409A86C-CC08-42BE-8359-45E1542CB880}" type="presParOf" srcId="{712B141D-18D3-4052-A44E-7EFFE8ACBC49}" destId="{A99AC79D-4F91-4BEE-9023-9E9C1D26E0FE}" srcOrd="1" destOrd="0" presId="urn:microsoft.com/office/officeart/2008/layout/PictureStrips"/>
    <dgm:cxn modelId="{66ABF5C9-94F0-43F3-AB78-93D83532D708}" type="presParOf" srcId="{5E3C769F-6BF2-4692-8E18-A5F62FA3858A}" destId="{5921DF6E-5A38-4E52-BB2E-F74D726A88F1}" srcOrd="3" destOrd="0" presId="urn:microsoft.com/office/officeart/2008/layout/PictureStrips"/>
    <dgm:cxn modelId="{073C4FEA-89EC-4DAE-B723-00093A595E63}" type="presParOf" srcId="{5E3C769F-6BF2-4692-8E18-A5F62FA3858A}" destId="{11B42D91-080A-4CC9-8482-E39A27B17BAC}" srcOrd="4" destOrd="0" presId="urn:microsoft.com/office/officeart/2008/layout/PictureStrips"/>
    <dgm:cxn modelId="{2DAFFD71-4E2D-4639-9B17-E7F633F8F7CB}" type="presParOf" srcId="{11B42D91-080A-4CC9-8482-E39A27B17BAC}" destId="{3B83A794-4341-409B-97F0-897B9B62720A}" srcOrd="0" destOrd="0" presId="urn:microsoft.com/office/officeart/2008/layout/PictureStrips"/>
    <dgm:cxn modelId="{3FEF73A5-ABA3-41A8-8BF6-5A774B4605BF}" type="presParOf" srcId="{11B42D91-080A-4CC9-8482-E39A27B17BAC}" destId="{6C6000A6-3400-463C-84D7-313886A17E25}" srcOrd="1" destOrd="0" presId="urn:microsoft.com/office/officeart/2008/layout/PictureStrips"/>
    <dgm:cxn modelId="{D131794F-2CE7-4206-8483-5B175E1BCE07}" type="presParOf" srcId="{5E3C769F-6BF2-4692-8E18-A5F62FA3858A}" destId="{3087A157-3A7C-400F-B4B8-3D6CE70CE6A4}" srcOrd="5" destOrd="0" presId="urn:microsoft.com/office/officeart/2008/layout/PictureStrips"/>
    <dgm:cxn modelId="{CA5D41FF-6372-4E77-A569-E661B3A6DB8D}" type="presParOf" srcId="{5E3C769F-6BF2-4692-8E18-A5F62FA3858A}" destId="{B384C565-7B98-4F46-A76B-6A62A5F8557F}" srcOrd="6" destOrd="0" presId="urn:microsoft.com/office/officeart/2008/layout/PictureStrips"/>
    <dgm:cxn modelId="{DD91C509-DC90-456E-B324-E90D0EE256C3}" type="presParOf" srcId="{B384C565-7B98-4F46-A76B-6A62A5F8557F}" destId="{C27924E2-D60C-44F5-B776-CA9C22B88D5D}" srcOrd="0" destOrd="0" presId="urn:microsoft.com/office/officeart/2008/layout/PictureStrips"/>
    <dgm:cxn modelId="{8F34E2C1-02FC-4536-90E0-7BB6A585B514}" type="presParOf" srcId="{B384C565-7B98-4F46-A76B-6A62A5F8557F}" destId="{7ECEA3A3-0593-4F88-A23A-FD1CCE859BC6}" srcOrd="1" destOrd="0" presId="urn:microsoft.com/office/officeart/2008/layout/PictureStrips"/>
    <dgm:cxn modelId="{51F4A451-7C15-4871-8489-37D5EA7A4BFA}" type="presParOf" srcId="{5E3C769F-6BF2-4692-8E18-A5F62FA3858A}" destId="{0BAE13D4-B303-4591-AB4F-5609D7EC6DA9}" srcOrd="7" destOrd="0" presId="urn:microsoft.com/office/officeart/2008/layout/PictureStrips"/>
    <dgm:cxn modelId="{1A50DEDC-7881-414E-8AA8-4B3BFBF4153E}" type="presParOf" srcId="{5E3C769F-6BF2-4692-8E18-A5F62FA3858A}" destId="{1259CAE0-1021-4520-8D8C-E3FF333616A9}" srcOrd="8" destOrd="0" presId="urn:microsoft.com/office/officeart/2008/layout/PictureStrips"/>
    <dgm:cxn modelId="{E5CC4F85-6BA5-4A2F-B0C5-96C9B2E9CF2A}" type="presParOf" srcId="{1259CAE0-1021-4520-8D8C-E3FF333616A9}" destId="{3B78A620-E6BE-40E3-BFA9-D4E12B89FB1D}" srcOrd="0" destOrd="0" presId="urn:microsoft.com/office/officeart/2008/layout/PictureStrips"/>
    <dgm:cxn modelId="{D257D4C4-F007-4DA6-A5AE-852DC6B408FB}" type="presParOf" srcId="{1259CAE0-1021-4520-8D8C-E3FF333616A9}" destId="{848A8775-81A7-4C0A-8612-B9A43BA36F76}" srcOrd="1" destOrd="0" presId="urn:microsoft.com/office/officeart/2008/layout/PictureStrips"/>
    <dgm:cxn modelId="{CB619FDC-15AE-4B34-8446-6CCFD857AA04}" type="presParOf" srcId="{5E3C769F-6BF2-4692-8E18-A5F62FA3858A}" destId="{ACB9F4AB-C492-418D-9FE7-0672338C2894}" srcOrd="9" destOrd="0" presId="urn:microsoft.com/office/officeart/2008/layout/PictureStrips"/>
    <dgm:cxn modelId="{107CD618-9204-411D-BE5B-96CF3297916C}" type="presParOf" srcId="{5E3C769F-6BF2-4692-8E18-A5F62FA3858A}" destId="{DEA31A3F-D214-4A33-A78A-8C424A2435B0}" srcOrd="10" destOrd="0" presId="urn:microsoft.com/office/officeart/2008/layout/PictureStrips"/>
    <dgm:cxn modelId="{3409CE90-7991-46E6-BAE9-7AFB037DC312}" type="presParOf" srcId="{DEA31A3F-D214-4A33-A78A-8C424A2435B0}" destId="{7F647C08-56C6-4472-BEE0-F778010678D5}" srcOrd="0" destOrd="0" presId="urn:microsoft.com/office/officeart/2008/layout/PictureStrips"/>
    <dgm:cxn modelId="{F3C80CEF-CFE4-40E4-B5A4-196CCA6B6A92}" type="presParOf" srcId="{DEA31A3F-D214-4A33-A78A-8C424A2435B0}" destId="{7EF29231-1E24-4229-9B1D-0AE6E72E5254}" srcOrd="1" destOrd="0" presId="urn:microsoft.com/office/officeart/2008/layout/PictureStrips"/>
    <dgm:cxn modelId="{17A8DAB8-CF52-4A6B-A518-16B1C0B3F3FE}" type="presParOf" srcId="{5E3C769F-6BF2-4692-8E18-A5F62FA3858A}" destId="{B70A6B8A-93D2-4386-B58C-ED93DF5766DC}" srcOrd="11" destOrd="0" presId="urn:microsoft.com/office/officeart/2008/layout/PictureStrips"/>
    <dgm:cxn modelId="{D8D3340A-69C1-4003-9812-542844166919}" type="presParOf" srcId="{5E3C769F-6BF2-4692-8E18-A5F62FA3858A}" destId="{D83BB2BF-0B16-429A-8DC8-44C2968D4E20}" srcOrd="12" destOrd="0" presId="urn:microsoft.com/office/officeart/2008/layout/PictureStrips"/>
    <dgm:cxn modelId="{971D3E24-BBBE-4A3D-AC74-E28665075BF8}" type="presParOf" srcId="{D83BB2BF-0B16-429A-8DC8-44C2968D4E20}" destId="{11460413-4955-4689-8926-262ACA001ED8}" srcOrd="0" destOrd="0" presId="urn:microsoft.com/office/officeart/2008/layout/PictureStrips"/>
    <dgm:cxn modelId="{266F3951-CAFC-4767-8F8D-60646E15F04B}" type="presParOf" srcId="{D83BB2BF-0B16-429A-8DC8-44C2968D4E20}" destId="{B2ED6765-26BF-4076-9E23-BBCE9A06F5AA}" srcOrd="1" destOrd="0" presId="urn:microsoft.com/office/officeart/2008/layout/PictureStrips"/>
    <dgm:cxn modelId="{386870AB-8196-48B5-8E9F-A244595F36CB}" type="presParOf" srcId="{5E3C769F-6BF2-4692-8E18-A5F62FA3858A}" destId="{D64580EF-AAEE-46D3-8310-755FA903D6DA}" srcOrd="13" destOrd="0" presId="urn:microsoft.com/office/officeart/2008/layout/PictureStrips"/>
    <dgm:cxn modelId="{0F026092-7788-4BC7-A6B0-51B9151F1E69}" type="presParOf" srcId="{5E3C769F-6BF2-4692-8E18-A5F62FA3858A}" destId="{CB95EC11-CE76-4EF0-BE96-F5470346369C}" srcOrd="14" destOrd="0" presId="urn:microsoft.com/office/officeart/2008/layout/PictureStrips"/>
    <dgm:cxn modelId="{43D4FE6F-83E7-4C06-9D69-2B62DB4DC29F}" type="presParOf" srcId="{CB95EC11-CE76-4EF0-BE96-F5470346369C}" destId="{E6809EDF-E53E-4640-9EA3-7199880C6366}" srcOrd="0" destOrd="0" presId="urn:microsoft.com/office/officeart/2008/layout/PictureStrips"/>
    <dgm:cxn modelId="{237E1D0D-F203-4DC8-B84A-AEC34042F272}" type="presParOf" srcId="{CB95EC11-CE76-4EF0-BE96-F5470346369C}" destId="{A4C3CFB6-3E35-4E41-ACEC-54914AE1C5C8}" srcOrd="1" destOrd="0" presId="urn:microsoft.com/office/officeart/2008/layout/PictureStrips"/>
    <dgm:cxn modelId="{06779D64-FECB-4288-B83A-C797D959705B}" type="presParOf" srcId="{5E3C769F-6BF2-4692-8E18-A5F62FA3858A}" destId="{620E6809-1844-42A4-A46C-C8A1954C987F}" srcOrd="15" destOrd="0" presId="urn:microsoft.com/office/officeart/2008/layout/PictureStrips"/>
    <dgm:cxn modelId="{A15EF923-7735-4A76-8C56-D5F42053A23B}" type="presParOf" srcId="{5E3C769F-6BF2-4692-8E18-A5F62FA3858A}" destId="{D1D03A66-B936-42DD-A6E7-38385A5BFB7B}" srcOrd="16" destOrd="0" presId="urn:microsoft.com/office/officeart/2008/layout/PictureStrips"/>
    <dgm:cxn modelId="{26E4B826-B387-4968-B255-50DDF47C7562}" type="presParOf" srcId="{D1D03A66-B936-42DD-A6E7-38385A5BFB7B}" destId="{3F265C5B-2486-4205-A9C0-D28E4CBD1CBA}" srcOrd="0" destOrd="0" presId="urn:microsoft.com/office/officeart/2008/layout/PictureStrips"/>
    <dgm:cxn modelId="{B3D9E568-A59B-4149-91CC-AC63FB19FFFE}" type="presParOf" srcId="{D1D03A66-B936-42DD-A6E7-38385A5BFB7B}" destId="{8CBF5870-8DD3-44AF-BFA0-B19FF0D4E108}" srcOrd="1" destOrd="0" presId="urn:microsoft.com/office/officeart/2008/layout/PictureStrips"/>
    <dgm:cxn modelId="{D3667E1E-73E9-40DC-AE71-C138BE30DCC0}" type="presParOf" srcId="{5E3C769F-6BF2-4692-8E18-A5F62FA3858A}" destId="{07FB3451-2AFE-4342-93B6-F8D0D86CD1FF}" srcOrd="17" destOrd="0" presId="urn:microsoft.com/office/officeart/2008/layout/PictureStrips"/>
    <dgm:cxn modelId="{02644BEA-8EE4-4194-A4C7-B97A7D6E728B}" type="presParOf" srcId="{5E3C769F-6BF2-4692-8E18-A5F62FA3858A}" destId="{63C5E3F5-D480-4CAD-8BB8-A390D5790BAE}" srcOrd="18" destOrd="0" presId="urn:microsoft.com/office/officeart/2008/layout/PictureStrips"/>
    <dgm:cxn modelId="{F47217DA-82C2-4DE9-8132-CEE8827F104B}" type="presParOf" srcId="{63C5E3F5-D480-4CAD-8BB8-A390D5790BAE}" destId="{1529A896-D1A4-4FA8-AF4B-F7C435C8DF85}" srcOrd="0" destOrd="0" presId="urn:microsoft.com/office/officeart/2008/layout/PictureStrips"/>
    <dgm:cxn modelId="{3AB8C988-D0E3-45F2-8E82-1E1D6E1B17CC}" type="presParOf" srcId="{63C5E3F5-D480-4CAD-8BB8-A390D5790BAE}" destId="{0C37BD4C-85AD-4993-8004-73832050C07E}" srcOrd="1" destOrd="0" presId="urn:microsoft.com/office/officeart/2008/layout/PictureStrips"/>
    <dgm:cxn modelId="{D46AFD61-E30C-4265-BE82-45AFC3BB0ED1}" type="presParOf" srcId="{5E3C769F-6BF2-4692-8E18-A5F62FA3858A}" destId="{FEFF713C-E866-4100-ADB4-7096ABA33C2E}" srcOrd="19" destOrd="0" presId="urn:microsoft.com/office/officeart/2008/layout/PictureStrips"/>
    <dgm:cxn modelId="{B5D66300-A3BE-4BBB-8B45-2579797F7A1D}" type="presParOf" srcId="{5E3C769F-6BF2-4692-8E18-A5F62FA3858A}" destId="{1D7A3CC2-8BBE-4B54-AD9B-5C6DF94E4788}" srcOrd="20" destOrd="0" presId="urn:microsoft.com/office/officeart/2008/layout/PictureStrips"/>
    <dgm:cxn modelId="{73286444-696D-4ABA-B72D-E07C42D83438}" type="presParOf" srcId="{1D7A3CC2-8BBE-4B54-AD9B-5C6DF94E4788}" destId="{E0FCBB32-A8F4-4995-BCA5-B2BC4B378840}" srcOrd="0" destOrd="0" presId="urn:microsoft.com/office/officeart/2008/layout/PictureStrips"/>
    <dgm:cxn modelId="{593FC89A-654C-4959-9663-B975A1669C89}" type="presParOf" srcId="{1D7A3CC2-8BBE-4B54-AD9B-5C6DF94E4788}" destId="{6BA042D4-F955-4F10-8B62-68C9FF1A033B}"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8610F5-B4E4-4352-86AC-D40853AC215C}">
      <dsp:nvSpPr>
        <dsp:cNvPr id="0" name=""/>
        <dsp:cNvSpPr/>
      </dsp:nvSpPr>
      <dsp:spPr>
        <a:xfrm>
          <a:off x="572685" y="184950"/>
          <a:ext cx="3015665" cy="942395"/>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38316"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latin typeface="Aptos" panose="020B0004020202020204" pitchFamily="34" charset="0"/>
            </a:rPr>
            <a:t>Import Libraries</a:t>
          </a:r>
        </a:p>
      </dsp:txBody>
      <dsp:txXfrm>
        <a:off x="572685" y="184950"/>
        <a:ext cx="3015665" cy="942395"/>
      </dsp:txXfrm>
    </dsp:sp>
    <dsp:sp modelId="{B52118FD-E035-43A9-8E19-099D31C7D597}">
      <dsp:nvSpPr>
        <dsp:cNvPr id="0" name=""/>
        <dsp:cNvSpPr/>
      </dsp:nvSpPr>
      <dsp:spPr>
        <a:xfrm>
          <a:off x="447032" y="48826"/>
          <a:ext cx="659676" cy="989515"/>
        </a:xfrm>
        <a:prstGeom prst="rect">
          <a:avLst/>
        </a:prstGeom>
        <a:blipFill>
          <a:blip xmlns:r="http://schemas.openxmlformats.org/officeDocument/2006/relationships" r:embed="rId1"/>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E812FF-FA2B-4377-B2DE-6B00329B51F3}">
      <dsp:nvSpPr>
        <dsp:cNvPr id="0" name=""/>
        <dsp:cNvSpPr/>
      </dsp:nvSpPr>
      <dsp:spPr>
        <a:xfrm>
          <a:off x="3854351" y="184950"/>
          <a:ext cx="3015665" cy="942395"/>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38316"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latin typeface="Aptos" panose="020B0004020202020204" pitchFamily="34" charset="0"/>
            </a:rPr>
            <a:t>Load dataset</a:t>
          </a:r>
        </a:p>
      </dsp:txBody>
      <dsp:txXfrm>
        <a:off x="3854351" y="184950"/>
        <a:ext cx="3015665" cy="942395"/>
      </dsp:txXfrm>
    </dsp:sp>
    <dsp:sp modelId="{A99AC79D-4F91-4BEE-9023-9E9C1D26E0FE}">
      <dsp:nvSpPr>
        <dsp:cNvPr id="0" name=""/>
        <dsp:cNvSpPr/>
      </dsp:nvSpPr>
      <dsp:spPr>
        <a:xfrm>
          <a:off x="3728698" y="48826"/>
          <a:ext cx="659676" cy="989515"/>
        </a:xfrm>
        <a:prstGeom prst="rect">
          <a:avLst/>
        </a:prstGeom>
        <a:blipFill>
          <a:blip xmlns:r="http://schemas.openxmlformats.org/officeDocument/2006/relationships" r:embed="rId2"/>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B83A794-4341-409B-97F0-897B9B62720A}">
      <dsp:nvSpPr>
        <dsp:cNvPr id="0" name=""/>
        <dsp:cNvSpPr/>
      </dsp:nvSpPr>
      <dsp:spPr>
        <a:xfrm>
          <a:off x="7136017" y="184950"/>
          <a:ext cx="3015665" cy="942395"/>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38316"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latin typeface="Aptos" panose="020B0004020202020204" pitchFamily="34" charset="0"/>
            </a:rPr>
            <a:t>Explore Data</a:t>
          </a:r>
        </a:p>
      </dsp:txBody>
      <dsp:txXfrm>
        <a:off x="7136017" y="184950"/>
        <a:ext cx="3015665" cy="942395"/>
      </dsp:txXfrm>
    </dsp:sp>
    <dsp:sp modelId="{6C6000A6-3400-463C-84D7-313886A17E25}">
      <dsp:nvSpPr>
        <dsp:cNvPr id="0" name=""/>
        <dsp:cNvSpPr/>
      </dsp:nvSpPr>
      <dsp:spPr>
        <a:xfrm>
          <a:off x="7010364" y="48826"/>
          <a:ext cx="659676" cy="989515"/>
        </a:xfrm>
        <a:prstGeom prst="rect">
          <a:avLst/>
        </a:prstGeom>
        <a:blipFill>
          <a:blip xmlns:r="http://schemas.openxmlformats.org/officeDocument/2006/relationships" r:embed="rId3"/>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27924E2-D60C-44F5-B776-CA9C22B88D5D}">
      <dsp:nvSpPr>
        <dsp:cNvPr id="0" name=""/>
        <dsp:cNvSpPr/>
      </dsp:nvSpPr>
      <dsp:spPr>
        <a:xfrm>
          <a:off x="572685" y="1371321"/>
          <a:ext cx="3015665" cy="942395"/>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38316"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latin typeface="Aptos" panose="020B0004020202020204" pitchFamily="34" charset="0"/>
            </a:rPr>
            <a:t>Data cleaning &amp; Preprocessing</a:t>
          </a:r>
        </a:p>
      </dsp:txBody>
      <dsp:txXfrm>
        <a:off x="572685" y="1371321"/>
        <a:ext cx="3015665" cy="942395"/>
      </dsp:txXfrm>
    </dsp:sp>
    <dsp:sp modelId="{7ECEA3A3-0593-4F88-A23A-FD1CCE859BC6}">
      <dsp:nvSpPr>
        <dsp:cNvPr id="0" name=""/>
        <dsp:cNvSpPr/>
      </dsp:nvSpPr>
      <dsp:spPr>
        <a:xfrm>
          <a:off x="447032" y="1235197"/>
          <a:ext cx="659676" cy="989515"/>
        </a:xfrm>
        <a:prstGeom prst="rect">
          <a:avLst/>
        </a:prstGeom>
        <a:blipFill>
          <a:blip xmlns:r="http://schemas.openxmlformats.org/officeDocument/2006/relationships" r:embed="rId4"/>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B78A620-E6BE-40E3-BFA9-D4E12B89FB1D}">
      <dsp:nvSpPr>
        <dsp:cNvPr id="0" name=""/>
        <dsp:cNvSpPr/>
      </dsp:nvSpPr>
      <dsp:spPr>
        <a:xfrm>
          <a:off x="3854351" y="1371321"/>
          <a:ext cx="3015665" cy="942395"/>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38316"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latin typeface="Aptos" panose="020B0004020202020204" pitchFamily="34" charset="0"/>
            </a:rPr>
            <a:t>Handle Missing values</a:t>
          </a:r>
        </a:p>
      </dsp:txBody>
      <dsp:txXfrm>
        <a:off x="3854351" y="1371321"/>
        <a:ext cx="3015665" cy="942395"/>
      </dsp:txXfrm>
    </dsp:sp>
    <dsp:sp modelId="{848A8775-81A7-4C0A-8612-B9A43BA36F76}">
      <dsp:nvSpPr>
        <dsp:cNvPr id="0" name=""/>
        <dsp:cNvSpPr/>
      </dsp:nvSpPr>
      <dsp:spPr>
        <a:xfrm>
          <a:off x="3728698" y="1235197"/>
          <a:ext cx="659676" cy="98951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F647C08-56C6-4472-BEE0-F778010678D5}">
      <dsp:nvSpPr>
        <dsp:cNvPr id="0" name=""/>
        <dsp:cNvSpPr/>
      </dsp:nvSpPr>
      <dsp:spPr>
        <a:xfrm>
          <a:off x="7136017" y="1371321"/>
          <a:ext cx="3015665" cy="942395"/>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38316"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latin typeface="Aptos" panose="020B0004020202020204" pitchFamily="34" charset="0"/>
            </a:rPr>
            <a:t>EDA</a:t>
          </a:r>
        </a:p>
      </dsp:txBody>
      <dsp:txXfrm>
        <a:off x="7136017" y="1371321"/>
        <a:ext cx="3015665" cy="942395"/>
      </dsp:txXfrm>
    </dsp:sp>
    <dsp:sp modelId="{7EF29231-1E24-4229-9B1D-0AE6E72E5254}">
      <dsp:nvSpPr>
        <dsp:cNvPr id="0" name=""/>
        <dsp:cNvSpPr/>
      </dsp:nvSpPr>
      <dsp:spPr>
        <a:xfrm>
          <a:off x="7010364" y="1235197"/>
          <a:ext cx="659676" cy="989515"/>
        </a:xfrm>
        <a:prstGeom prst="rect">
          <a:avLst/>
        </a:prstGeom>
        <a:blipFill>
          <a:blip xmlns:r="http://schemas.openxmlformats.org/officeDocument/2006/relationships" r:embed="rId7"/>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1460413-4955-4689-8926-262ACA001ED8}">
      <dsp:nvSpPr>
        <dsp:cNvPr id="0" name=""/>
        <dsp:cNvSpPr/>
      </dsp:nvSpPr>
      <dsp:spPr>
        <a:xfrm>
          <a:off x="572685" y="2557692"/>
          <a:ext cx="3015665" cy="942395"/>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38316"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latin typeface="Aptos" panose="020B0004020202020204" pitchFamily="34" charset="0"/>
            </a:rPr>
            <a:t>Visualisation</a:t>
          </a:r>
        </a:p>
      </dsp:txBody>
      <dsp:txXfrm>
        <a:off x="572685" y="2557692"/>
        <a:ext cx="3015665" cy="942395"/>
      </dsp:txXfrm>
    </dsp:sp>
    <dsp:sp modelId="{B2ED6765-26BF-4076-9E23-BBCE9A06F5AA}">
      <dsp:nvSpPr>
        <dsp:cNvPr id="0" name=""/>
        <dsp:cNvSpPr/>
      </dsp:nvSpPr>
      <dsp:spPr>
        <a:xfrm>
          <a:off x="447032" y="2421568"/>
          <a:ext cx="659676" cy="989515"/>
        </a:xfrm>
        <a:prstGeom prst="rect">
          <a:avLst/>
        </a:prstGeom>
        <a:blipFill>
          <a:blip xmlns:r="http://schemas.openxmlformats.org/officeDocument/2006/relationships" r:embed="rId8"/>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809EDF-E53E-4640-9EA3-7199880C6366}">
      <dsp:nvSpPr>
        <dsp:cNvPr id="0" name=""/>
        <dsp:cNvSpPr/>
      </dsp:nvSpPr>
      <dsp:spPr>
        <a:xfrm>
          <a:off x="3854351" y="2557692"/>
          <a:ext cx="3015665" cy="942395"/>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38316"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latin typeface="Aptos" panose="020B0004020202020204" pitchFamily="34" charset="0"/>
            </a:rPr>
            <a:t>Split into Train &amp;Test</a:t>
          </a:r>
        </a:p>
      </dsp:txBody>
      <dsp:txXfrm>
        <a:off x="3854351" y="2557692"/>
        <a:ext cx="3015665" cy="942395"/>
      </dsp:txXfrm>
    </dsp:sp>
    <dsp:sp modelId="{A4C3CFB6-3E35-4E41-ACEC-54914AE1C5C8}">
      <dsp:nvSpPr>
        <dsp:cNvPr id="0" name=""/>
        <dsp:cNvSpPr/>
      </dsp:nvSpPr>
      <dsp:spPr>
        <a:xfrm>
          <a:off x="3728698" y="2421568"/>
          <a:ext cx="659676" cy="989515"/>
        </a:xfrm>
        <a:prstGeom prst="rect">
          <a:avLst/>
        </a:prstGeom>
        <a:blipFill>
          <a:blip xmlns:r="http://schemas.openxmlformats.org/officeDocument/2006/relationships" r:embed="rId9"/>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F265C5B-2486-4205-A9C0-D28E4CBD1CBA}">
      <dsp:nvSpPr>
        <dsp:cNvPr id="0" name=""/>
        <dsp:cNvSpPr/>
      </dsp:nvSpPr>
      <dsp:spPr>
        <a:xfrm>
          <a:off x="7136017" y="2557692"/>
          <a:ext cx="3015665" cy="942395"/>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38316"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latin typeface="Aptos" panose="020B0004020202020204" pitchFamily="34" charset="0"/>
            </a:rPr>
            <a:t>Model Building</a:t>
          </a:r>
        </a:p>
      </dsp:txBody>
      <dsp:txXfrm>
        <a:off x="7136017" y="2557692"/>
        <a:ext cx="3015665" cy="942395"/>
      </dsp:txXfrm>
    </dsp:sp>
    <dsp:sp modelId="{8CBF5870-8DD3-44AF-BFA0-B19FF0D4E108}">
      <dsp:nvSpPr>
        <dsp:cNvPr id="0" name=""/>
        <dsp:cNvSpPr/>
      </dsp:nvSpPr>
      <dsp:spPr>
        <a:xfrm>
          <a:off x="7010364" y="2421568"/>
          <a:ext cx="659676" cy="989515"/>
        </a:xfrm>
        <a:prstGeom prst="rect">
          <a:avLst/>
        </a:prstGeom>
        <a:blipFill>
          <a:blip xmlns:r="http://schemas.openxmlformats.org/officeDocument/2006/relationships" r:embed="rId10"/>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29A896-D1A4-4FA8-AF4B-F7C435C8DF85}">
      <dsp:nvSpPr>
        <dsp:cNvPr id="0" name=""/>
        <dsp:cNvSpPr/>
      </dsp:nvSpPr>
      <dsp:spPr>
        <a:xfrm>
          <a:off x="2213518" y="3744064"/>
          <a:ext cx="3015665" cy="942395"/>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38316"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latin typeface="Aptos" panose="020B0004020202020204" pitchFamily="34" charset="0"/>
            </a:rPr>
            <a:t>Model Evaluation</a:t>
          </a:r>
        </a:p>
      </dsp:txBody>
      <dsp:txXfrm>
        <a:off x="2213518" y="3744064"/>
        <a:ext cx="3015665" cy="942395"/>
      </dsp:txXfrm>
    </dsp:sp>
    <dsp:sp modelId="{0C37BD4C-85AD-4993-8004-73832050C07E}">
      <dsp:nvSpPr>
        <dsp:cNvPr id="0" name=""/>
        <dsp:cNvSpPr/>
      </dsp:nvSpPr>
      <dsp:spPr>
        <a:xfrm>
          <a:off x="2087865" y="3607940"/>
          <a:ext cx="659676" cy="989515"/>
        </a:xfrm>
        <a:prstGeom prst="rect">
          <a:avLst/>
        </a:prstGeom>
        <a:blipFill>
          <a:blip xmlns:r="http://schemas.openxmlformats.org/officeDocument/2006/relationships" r:embed="rId11"/>
          <a:srcRect/>
          <a:stretch>
            <a:fillRect l="-63000" r="-6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FCBB32-A8F4-4995-BCA5-B2BC4B378840}">
      <dsp:nvSpPr>
        <dsp:cNvPr id="0" name=""/>
        <dsp:cNvSpPr/>
      </dsp:nvSpPr>
      <dsp:spPr>
        <a:xfrm>
          <a:off x="5495184" y="3744064"/>
          <a:ext cx="3015665" cy="942395"/>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38316"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latin typeface="Aptos" panose="020B0004020202020204" pitchFamily="34" charset="0"/>
            </a:rPr>
            <a:t>Interpretation</a:t>
          </a:r>
        </a:p>
      </dsp:txBody>
      <dsp:txXfrm>
        <a:off x="5495184" y="3744064"/>
        <a:ext cx="3015665" cy="942395"/>
      </dsp:txXfrm>
    </dsp:sp>
    <dsp:sp modelId="{6BA042D4-F955-4F10-8B62-68C9FF1A033B}">
      <dsp:nvSpPr>
        <dsp:cNvPr id="0" name=""/>
        <dsp:cNvSpPr/>
      </dsp:nvSpPr>
      <dsp:spPr>
        <a:xfrm>
          <a:off x="5369531" y="3607940"/>
          <a:ext cx="659676" cy="989515"/>
        </a:xfrm>
        <a:prstGeom prst="rect">
          <a:avLst/>
        </a:prstGeom>
        <a:blipFill>
          <a:blip xmlns:r="http://schemas.openxmlformats.org/officeDocument/2006/relationships" r:embed="rId12">
            <a:extLst>
              <a:ext uri="{96DAC541-7B7A-43D3-8B79-37D633B846F1}">
                <asvg:svgBlip xmlns:asvg="http://schemas.microsoft.com/office/drawing/2016/SVG/main" r:embed="rId13"/>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01-02-2026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Costumer Segmentation and Prediction</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ln>
            <a:solidFill>
              <a:srgbClr val="1C1A55"/>
            </a:solidFill>
          </a:ln>
        </p:spPr>
        <p:style>
          <a:lnRef idx="2">
            <a:schemeClr val="accent1"/>
          </a:lnRef>
          <a:fillRef idx="1">
            <a:schemeClr val="lt1"/>
          </a:fillRef>
          <a:effectRef idx="0">
            <a:schemeClr val="accent1"/>
          </a:effectRef>
          <a:fontRef idx="minor">
            <a:schemeClr val="dk1"/>
          </a:fontRef>
        </p:style>
        <p:txBody>
          <a:bodyPr/>
          <a:lstStyle/>
          <a:p>
            <a:r>
              <a:rPr lang="en-US" dirty="0">
                <a:solidFill>
                  <a:srgbClr val="1C1A55"/>
                </a:solidFill>
                <a:latin typeface="+mn-lt"/>
              </a:rPr>
              <a:t>Introduction</a:t>
            </a:r>
          </a:p>
          <a:p>
            <a:r>
              <a:rPr lang="en-US" dirty="0">
                <a:solidFill>
                  <a:srgbClr val="1C1A55"/>
                </a:solidFill>
                <a:latin typeface="+mn-lt"/>
              </a:rPr>
              <a:t>Objective </a:t>
            </a:r>
          </a:p>
          <a:p>
            <a:r>
              <a:rPr lang="en-US" dirty="0">
                <a:solidFill>
                  <a:srgbClr val="1C1A55"/>
                </a:solidFill>
                <a:latin typeface="+mn-lt"/>
              </a:rPr>
              <a:t>Data Understanding </a:t>
            </a:r>
          </a:p>
          <a:p>
            <a:r>
              <a:rPr lang="en-US" dirty="0">
                <a:solidFill>
                  <a:srgbClr val="1C1A55"/>
                </a:solidFill>
                <a:latin typeface="+mn-lt"/>
              </a:rPr>
              <a:t>Data Preprocessing</a:t>
            </a:r>
          </a:p>
          <a:p>
            <a:r>
              <a:rPr lang="en-US" dirty="0">
                <a:solidFill>
                  <a:srgbClr val="1C1A55"/>
                </a:solidFill>
                <a:latin typeface="+mn-lt"/>
              </a:rPr>
              <a:t>EDA (Exploratory Data Analysis)</a:t>
            </a:r>
          </a:p>
          <a:p>
            <a:r>
              <a:rPr lang="en-US" dirty="0">
                <a:solidFill>
                  <a:srgbClr val="1C1A55"/>
                </a:solidFill>
                <a:latin typeface="+mn-lt"/>
              </a:rPr>
              <a:t>Model Selection</a:t>
            </a:r>
          </a:p>
          <a:p>
            <a:r>
              <a:rPr lang="en-US" dirty="0">
                <a:solidFill>
                  <a:srgbClr val="1C1A55"/>
                </a:solidFill>
                <a:latin typeface="+mn-lt"/>
              </a:rPr>
              <a:t>Model Evaluation </a:t>
            </a:r>
          </a:p>
          <a:p>
            <a:r>
              <a:rPr lang="en-US" dirty="0">
                <a:solidFill>
                  <a:srgbClr val="1C1A55"/>
                </a:solidFill>
                <a:latin typeface="+mn-lt"/>
              </a:rPr>
              <a:t>Conclusion &amp; Recommendations</a:t>
            </a:r>
            <a:endParaRPr lang="en-IN" dirty="0">
              <a:solidFill>
                <a:srgbClr val="1C1A55"/>
              </a:solidFill>
              <a:latin typeface="+mn-lt"/>
            </a:endParaRPr>
          </a:p>
          <a:p>
            <a:endParaRPr lang="en-IN" dirty="0">
              <a:solidFill>
                <a:srgbClr val="1C1A55"/>
              </a:solidFill>
              <a:latin typeface="+mn-lt"/>
            </a:endParaRPr>
          </a:p>
        </p:txBody>
      </p:sp>
      <p:sp>
        <p:nvSpPr>
          <p:cNvPr id="4" name="Rectangle: Rounded Corners 3">
            <a:extLst>
              <a:ext uri="{FF2B5EF4-FFF2-40B4-BE49-F238E27FC236}">
                <a16:creationId xmlns:a16="http://schemas.microsoft.com/office/drawing/2014/main" id="{CC44E601-95F9-14D3-D886-EE7B3BF930B4}"/>
              </a:ext>
            </a:extLst>
          </p:cNvPr>
          <p:cNvSpPr/>
          <p:nvPr/>
        </p:nvSpPr>
        <p:spPr>
          <a:xfrm>
            <a:off x="4034231" y="407694"/>
            <a:ext cx="4123537" cy="914400"/>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4400" b="1" dirty="0">
                <a:solidFill>
                  <a:srgbClr val="1C1A55"/>
                </a:solidFill>
              </a:rPr>
              <a:t>AGENDA</a:t>
            </a:r>
            <a:endParaRPr lang="en-US" sz="4400" b="1" dirty="0">
              <a:solidFill>
                <a:schemeClr val="bg1"/>
              </a:solidFill>
            </a:endParaRPr>
          </a:p>
        </p:txBody>
      </p:sp>
      <p:pic>
        <p:nvPicPr>
          <p:cNvPr id="10" name="Picture 9">
            <a:extLst>
              <a:ext uri="{FF2B5EF4-FFF2-40B4-BE49-F238E27FC236}">
                <a16:creationId xmlns:a16="http://schemas.microsoft.com/office/drawing/2014/main" id="{D2555312-A59E-C2F8-DEFC-6540FEC39550}"/>
              </a:ext>
            </a:extLst>
          </p:cNvPr>
          <p:cNvPicPr>
            <a:picLocks noChangeAspect="1"/>
          </p:cNvPicPr>
          <p:nvPr/>
        </p:nvPicPr>
        <p:blipFill>
          <a:blip r:embed="rId2"/>
          <a:stretch>
            <a:fillRect/>
          </a:stretch>
        </p:blipFill>
        <p:spPr>
          <a:xfrm>
            <a:off x="7466630" y="2277750"/>
            <a:ext cx="3401335" cy="3401335"/>
          </a:xfrm>
          <a:prstGeom prst="rect">
            <a:avLst/>
          </a:prstGeom>
        </p:spPr>
      </p:pic>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608423" cy="3916161"/>
          </a:xfrm>
          <a:prstGeom prst="rect">
            <a:avLst/>
          </a:prstGeom>
          <a:ln>
            <a:solidFill>
              <a:srgbClr val="1C1A55"/>
            </a:solidFill>
          </a:ln>
        </p:spPr>
        <p:style>
          <a:lnRef idx="2">
            <a:schemeClr val="accent1"/>
          </a:lnRef>
          <a:fillRef idx="1">
            <a:schemeClr val="lt1"/>
          </a:fillRef>
          <a:effectRef idx="0">
            <a:schemeClr val="accent1"/>
          </a:effectRef>
          <a:fontRef idx="minor">
            <a:schemeClr val="dk1"/>
          </a:fontRef>
        </p:style>
        <p:txBody>
          <a:bodyPr>
            <a:normAutofit lnSpcReduction="1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endParaRPr lang="en-US" b="1" dirty="0">
              <a:solidFill>
                <a:srgbClr val="1C1A55"/>
              </a:solidFill>
            </a:endParaRPr>
          </a:p>
          <a:p>
            <a:r>
              <a:rPr lang="en-US" b="1" dirty="0">
                <a:solidFill>
                  <a:srgbClr val="1C1A55"/>
                </a:solidFill>
              </a:rPr>
              <a:t>Focus:</a:t>
            </a:r>
            <a:br>
              <a:rPr lang="en-US" dirty="0">
                <a:solidFill>
                  <a:srgbClr val="1C1A55"/>
                </a:solidFill>
              </a:rPr>
            </a:br>
            <a:r>
              <a:rPr lang="en-US" sz="1900" dirty="0">
                <a:solidFill>
                  <a:srgbClr val="1C1A55"/>
                </a:solidFill>
              </a:rPr>
              <a:t>Segmenting e-commerce customers based on purchasing behavior using machine learning techniques.</a:t>
            </a:r>
            <a:endParaRPr lang="en-US" dirty="0"/>
          </a:p>
          <a:p>
            <a:r>
              <a:rPr lang="en-US" b="1" dirty="0">
                <a:solidFill>
                  <a:srgbClr val="1C1A55"/>
                </a:solidFill>
              </a:rPr>
              <a:t>Problem:</a:t>
            </a:r>
            <a:br>
              <a:rPr lang="en-US" dirty="0">
                <a:solidFill>
                  <a:srgbClr val="1C1A55"/>
                </a:solidFill>
              </a:rPr>
            </a:br>
            <a:r>
              <a:rPr lang="en-US" sz="1900" dirty="0">
                <a:solidFill>
                  <a:srgbClr val="1C1A55"/>
                </a:solidFill>
              </a:rPr>
              <a:t>Uniform marketing strategies fail to address diverse customer purchasing behaviors.</a:t>
            </a:r>
          </a:p>
          <a:p>
            <a:r>
              <a:rPr lang="en-US" b="1" dirty="0">
                <a:solidFill>
                  <a:srgbClr val="1C1A55"/>
                </a:solidFill>
              </a:rPr>
              <a:t>Approach:</a:t>
            </a:r>
            <a:br>
              <a:rPr lang="en-US" dirty="0">
                <a:solidFill>
                  <a:srgbClr val="1C1A55"/>
                </a:solidFill>
              </a:rPr>
            </a:br>
            <a:r>
              <a:rPr lang="en-US" sz="1900" dirty="0">
                <a:solidFill>
                  <a:srgbClr val="1C1A55"/>
                </a:solidFill>
              </a:rPr>
              <a:t>Apply </a:t>
            </a:r>
            <a:r>
              <a:rPr lang="en-US" sz="1900" b="1" dirty="0">
                <a:solidFill>
                  <a:srgbClr val="1C1A55"/>
                </a:solidFill>
              </a:rPr>
              <a:t>RFM analysis</a:t>
            </a:r>
            <a:r>
              <a:rPr lang="en-US" sz="1900" dirty="0">
                <a:solidFill>
                  <a:srgbClr val="1C1A55"/>
                </a:solidFill>
              </a:rPr>
              <a:t> and </a:t>
            </a:r>
            <a:r>
              <a:rPr lang="en-US" sz="1900" b="1" dirty="0">
                <a:solidFill>
                  <a:srgbClr val="1C1A55"/>
                </a:solidFill>
              </a:rPr>
              <a:t>clustering techniques</a:t>
            </a:r>
            <a:r>
              <a:rPr lang="en-US" sz="1900" dirty="0">
                <a:solidFill>
                  <a:srgbClr val="1C1A55"/>
                </a:solidFill>
              </a:rPr>
              <a:t> (K-Means, Hierarchical, DBSCAN) to segment customers based on purchase patterns.</a:t>
            </a:r>
          </a:p>
          <a:p>
            <a:r>
              <a:rPr lang="en-US" b="1" dirty="0">
                <a:solidFill>
                  <a:srgbClr val="1C1A55"/>
                </a:solidFill>
              </a:rPr>
              <a:t>Goal:</a:t>
            </a:r>
            <a:br>
              <a:rPr lang="en-US" dirty="0">
                <a:solidFill>
                  <a:srgbClr val="1C1A55"/>
                </a:solidFill>
              </a:rPr>
            </a:br>
            <a:r>
              <a:rPr lang="en-US" sz="1900" dirty="0">
                <a:solidFill>
                  <a:srgbClr val="1C1A55"/>
                </a:solidFill>
              </a:rPr>
              <a:t>Enable targeted marketing, improve customer retention, and optimize inventory decisions.</a:t>
            </a:r>
            <a:br>
              <a:rPr lang="en-US" sz="1900" dirty="0"/>
            </a:br>
            <a:endParaRPr lang="en-US" sz="1900" dirty="0">
              <a:solidFill>
                <a:srgbClr val="1C1A55"/>
              </a:solidFill>
            </a:endParaRPr>
          </a:p>
        </p:txBody>
      </p:sp>
      <p:sp>
        <p:nvSpPr>
          <p:cNvPr id="6" name="Rectangle: Rounded Corners 5">
            <a:extLst>
              <a:ext uri="{FF2B5EF4-FFF2-40B4-BE49-F238E27FC236}">
                <a16:creationId xmlns:a16="http://schemas.microsoft.com/office/drawing/2014/main" id="{3FE6B6B1-CA06-157B-6B7F-58EA047EEB91}"/>
              </a:ext>
            </a:extLst>
          </p:cNvPr>
          <p:cNvSpPr/>
          <p:nvPr/>
        </p:nvSpPr>
        <p:spPr>
          <a:xfrm>
            <a:off x="1969552" y="562391"/>
            <a:ext cx="8252896" cy="812121"/>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4400" b="1" dirty="0">
                <a:solidFill>
                  <a:srgbClr val="1C1A55"/>
                </a:solidFill>
              </a:rPr>
              <a:t>Introduction (Project Overview)</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AFAE3FD5-D852-17B1-458F-8BAA45096A47}"/>
              </a:ext>
            </a:extLst>
          </p:cNvPr>
          <p:cNvSpPr>
            <a:spLocks noGrp="1"/>
          </p:cNvSpPr>
          <p:nvPr>
            <p:ph idx="1"/>
          </p:nvPr>
        </p:nvSpPr>
        <p:spPr>
          <a:xfrm>
            <a:off x="334587" y="2029801"/>
            <a:ext cx="6712031" cy="2955718"/>
          </a:xfrm>
          <a:prstGeom prst="rect">
            <a:avLst/>
          </a:prstGeom>
          <a:ln>
            <a:solidFill>
              <a:srgbClr val="1C1A55"/>
            </a:solidFill>
          </a:ln>
        </p:spPr>
        <p:style>
          <a:lnRef idx="2">
            <a:schemeClr val="accent1"/>
          </a:lnRef>
          <a:fillRef idx="1">
            <a:schemeClr val="lt1"/>
          </a:fillRef>
          <a:effectRef idx="0">
            <a:schemeClr val="accent1"/>
          </a:effectRef>
          <a:fontRef idx="minor">
            <a:schemeClr val="dk1"/>
          </a:fontRef>
        </p:style>
        <p:txBody>
          <a:bodyPr>
            <a:no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US" sz="2000" dirty="0">
                <a:solidFill>
                  <a:srgbClr val="1C1A55"/>
                </a:solidFill>
              </a:rPr>
              <a:t>Segment customers based on their purchasing behavior and transaction history</a:t>
            </a:r>
          </a:p>
          <a:p>
            <a:r>
              <a:rPr lang="en-US" sz="2000" dirty="0">
                <a:solidFill>
                  <a:srgbClr val="1C1A55"/>
                </a:solidFill>
              </a:rPr>
              <a:t>Identify high-value, loyal, and at-risk customer groups</a:t>
            </a:r>
          </a:p>
          <a:p>
            <a:r>
              <a:rPr lang="en-US" sz="2000" dirty="0">
                <a:solidFill>
                  <a:srgbClr val="1C1A55"/>
                </a:solidFill>
              </a:rPr>
              <a:t>Predict future purchase likelihood using historical patterns</a:t>
            </a:r>
          </a:p>
          <a:p>
            <a:r>
              <a:rPr lang="en-US" sz="2000" dirty="0">
                <a:solidFill>
                  <a:srgbClr val="1C1A55"/>
                </a:solidFill>
              </a:rPr>
              <a:t>Enable targeted marketing strategies to improve retention and revenue</a:t>
            </a:r>
          </a:p>
          <a:p>
            <a:r>
              <a:rPr lang="en-US" sz="2000" dirty="0">
                <a:solidFill>
                  <a:srgbClr val="1C1A55"/>
                </a:solidFill>
              </a:rPr>
              <a:t>If you want it more business-focused or more ML-focused, I can tune the wording instantly.</a:t>
            </a:r>
          </a:p>
        </p:txBody>
      </p:sp>
      <p:sp>
        <p:nvSpPr>
          <p:cNvPr id="6" name="Rectangle: Rounded Corners 5">
            <a:extLst>
              <a:ext uri="{FF2B5EF4-FFF2-40B4-BE49-F238E27FC236}">
                <a16:creationId xmlns:a16="http://schemas.microsoft.com/office/drawing/2014/main" id="{91926FC9-99CF-8515-E03F-82B2F0911DF2}"/>
              </a:ext>
            </a:extLst>
          </p:cNvPr>
          <p:cNvSpPr/>
          <p:nvPr/>
        </p:nvSpPr>
        <p:spPr>
          <a:xfrm>
            <a:off x="1934112" y="562391"/>
            <a:ext cx="8335425" cy="812121"/>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4800" b="1" dirty="0"/>
              <a:t>Objectives</a:t>
            </a:r>
            <a:endParaRPr lang="en-US" sz="4800" b="1" dirty="0">
              <a:solidFill>
                <a:srgbClr val="1C1A55"/>
              </a:solidFill>
            </a:endParaRPr>
          </a:p>
        </p:txBody>
      </p:sp>
      <p:pic>
        <p:nvPicPr>
          <p:cNvPr id="14" name="Picture 13">
            <a:extLst>
              <a:ext uri="{FF2B5EF4-FFF2-40B4-BE49-F238E27FC236}">
                <a16:creationId xmlns:a16="http://schemas.microsoft.com/office/drawing/2014/main" id="{541ED42A-E406-5295-2508-B43769B92C9D}"/>
              </a:ext>
            </a:extLst>
          </p:cNvPr>
          <p:cNvPicPr>
            <a:picLocks noChangeAspect="1"/>
          </p:cNvPicPr>
          <p:nvPr/>
        </p:nvPicPr>
        <p:blipFill>
          <a:blip r:embed="rId2"/>
          <a:stretch>
            <a:fillRect/>
          </a:stretch>
        </p:blipFill>
        <p:spPr>
          <a:xfrm>
            <a:off x="7273274" y="2577844"/>
            <a:ext cx="2231827" cy="2231827"/>
          </a:xfrm>
          <a:prstGeom prst="rect">
            <a:avLst/>
          </a:prstGeom>
        </p:spPr>
      </p:pic>
      <p:pic>
        <p:nvPicPr>
          <p:cNvPr id="15" name="Picture 14">
            <a:extLst>
              <a:ext uri="{FF2B5EF4-FFF2-40B4-BE49-F238E27FC236}">
                <a16:creationId xmlns:a16="http://schemas.microsoft.com/office/drawing/2014/main" id="{29658B6F-E4ED-6C20-769F-669EAFDE1F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1152" y="314507"/>
            <a:ext cx="3320849" cy="1869849"/>
          </a:xfrm>
          <a:prstGeom prst="rect">
            <a:avLst/>
          </a:prstGeom>
        </p:spPr>
      </p:pic>
    </p:spTree>
    <p:extLst>
      <p:ext uri="{BB962C8B-B14F-4D97-AF65-F5344CB8AC3E}">
        <p14:creationId xmlns:p14="http://schemas.microsoft.com/office/powerpoint/2010/main" val="301575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49B324-202B-B737-643A-5A27B76C7A18}"/>
              </a:ext>
            </a:extLst>
          </p:cNvPr>
          <p:cNvSpPr>
            <a:spLocks noGrp="1"/>
          </p:cNvSpPr>
          <p:nvPr>
            <p:ph idx="1"/>
          </p:nvPr>
        </p:nvSpPr>
        <p:spPr>
          <a:xfrm>
            <a:off x="181521" y="2309783"/>
            <a:ext cx="11828958" cy="3685217"/>
          </a:xfrm>
          <a:ln>
            <a:solidFill>
              <a:srgbClr val="1C1A55"/>
            </a:solidFill>
          </a:ln>
        </p:spPr>
        <p:txBody>
          <a:bodyPr>
            <a:normAutofit/>
          </a:bodyPr>
          <a:lstStyle/>
          <a:p>
            <a:pPr marL="0" indent="0">
              <a:buNone/>
            </a:pPr>
            <a:r>
              <a:rPr lang="en-US" b="1" dirty="0">
                <a:solidFill>
                  <a:srgbClr val="1C1A55"/>
                </a:solidFill>
              </a:rPr>
              <a:t>Key Attributes:</a:t>
            </a:r>
            <a:endParaRPr lang="en-US" dirty="0">
              <a:solidFill>
                <a:srgbClr val="1C1A55"/>
              </a:solidFill>
            </a:endParaRPr>
          </a:p>
          <a:p>
            <a:r>
              <a:rPr lang="en-US" sz="1500" dirty="0">
                <a:solidFill>
                  <a:srgbClr val="1C1A55"/>
                </a:solidFill>
              </a:rPr>
              <a:t>Transaction details: </a:t>
            </a:r>
            <a:r>
              <a:rPr lang="en-US" sz="1500" i="1" dirty="0">
                <a:solidFill>
                  <a:srgbClr val="1C1A55"/>
                </a:solidFill>
              </a:rPr>
              <a:t>InvoiceNo, InvoiceDate, InvoiceTime</a:t>
            </a:r>
            <a:endParaRPr lang="en-US" sz="1500" dirty="0">
              <a:solidFill>
                <a:srgbClr val="1C1A55"/>
              </a:solidFill>
            </a:endParaRPr>
          </a:p>
          <a:p>
            <a:r>
              <a:rPr lang="en-US" sz="1500" dirty="0">
                <a:solidFill>
                  <a:srgbClr val="1C1A55"/>
                </a:solidFill>
              </a:rPr>
              <a:t>Product information: </a:t>
            </a:r>
            <a:r>
              <a:rPr lang="en-US" sz="1500" i="1" dirty="0">
                <a:solidFill>
                  <a:srgbClr val="1C1A55"/>
                </a:solidFill>
              </a:rPr>
              <a:t>StockCode, Description, UnitPrice</a:t>
            </a:r>
            <a:endParaRPr lang="en-US" sz="1500" dirty="0">
              <a:solidFill>
                <a:srgbClr val="1C1A55"/>
              </a:solidFill>
            </a:endParaRPr>
          </a:p>
          <a:p>
            <a:r>
              <a:rPr lang="en-US" sz="1500" dirty="0">
                <a:solidFill>
                  <a:srgbClr val="1C1A55"/>
                </a:solidFill>
              </a:rPr>
              <a:t>Purchase behavior: </a:t>
            </a:r>
            <a:r>
              <a:rPr lang="en-US" sz="1500" i="1" dirty="0">
                <a:solidFill>
                  <a:srgbClr val="1C1A55"/>
                </a:solidFill>
              </a:rPr>
              <a:t>Quantity</a:t>
            </a:r>
            <a:endParaRPr lang="en-US" sz="1500" dirty="0">
              <a:solidFill>
                <a:srgbClr val="1C1A55"/>
              </a:solidFill>
            </a:endParaRPr>
          </a:p>
          <a:p>
            <a:r>
              <a:rPr lang="en-US" sz="1500" dirty="0">
                <a:solidFill>
                  <a:srgbClr val="1C1A55"/>
                </a:solidFill>
              </a:rPr>
              <a:t>Customer details: </a:t>
            </a:r>
            <a:r>
              <a:rPr lang="en-US" sz="1500" i="1" dirty="0">
                <a:solidFill>
                  <a:srgbClr val="1C1A55"/>
                </a:solidFill>
              </a:rPr>
              <a:t>CustomerID, Country</a:t>
            </a:r>
            <a:endParaRPr lang="en-US" sz="1500" dirty="0">
              <a:solidFill>
                <a:srgbClr val="1C1A55"/>
              </a:solidFill>
            </a:endParaRPr>
          </a:p>
          <a:p>
            <a:r>
              <a:rPr lang="en-US" sz="1500" dirty="0">
                <a:solidFill>
                  <a:srgbClr val="1C1A55"/>
                </a:solidFill>
              </a:rPr>
              <a:t>Transaction flags: </a:t>
            </a:r>
            <a:r>
              <a:rPr lang="en-US" sz="1500" i="1" dirty="0">
                <a:solidFill>
                  <a:srgbClr val="1C1A55"/>
                </a:solidFill>
              </a:rPr>
              <a:t>CancelOrder, ValidTransaction</a:t>
            </a:r>
            <a:endParaRPr lang="en-US" sz="1500" dirty="0">
              <a:solidFill>
                <a:srgbClr val="1C1A55"/>
              </a:solidFill>
            </a:endParaRPr>
          </a:p>
          <a:p>
            <a:pPr marL="0" indent="0">
              <a:buNone/>
            </a:pPr>
            <a:r>
              <a:rPr lang="en-US" b="1" dirty="0">
                <a:solidFill>
                  <a:srgbClr val="1C1A55"/>
                </a:solidFill>
              </a:rPr>
              <a:t>Data Scope:</a:t>
            </a:r>
            <a:endParaRPr lang="en-US" dirty="0">
              <a:solidFill>
                <a:srgbClr val="1C1A55"/>
              </a:solidFill>
            </a:endParaRPr>
          </a:p>
          <a:p>
            <a:r>
              <a:rPr lang="en-US" sz="1500" dirty="0">
                <a:solidFill>
                  <a:srgbClr val="1C1A55"/>
                </a:solidFill>
              </a:rPr>
              <a:t>Multiple products per invoice</a:t>
            </a:r>
          </a:p>
          <a:p>
            <a:r>
              <a:rPr lang="en-US" sz="1500" dirty="0">
                <a:solidFill>
                  <a:srgbClr val="1C1A55"/>
                </a:solidFill>
              </a:rPr>
              <a:t>Repeated purchases by the same customer</a:t>
            </a:r>
          </a:p>
          <a:p>
            <a:r>
              <a:rPr lang="en-US" sz="1500" dirty="0">
                <a:solidFill>
                  <a:srgbClr val="1C1A55"/>
                </a:solidFill>
              </a:rPr>
              <a:t>International customer base (country-level coverage)</a:t>
            </a:r>
          </a:p>
          <a:p>
            <a:endParaRPr lang="en-US" dirty="0">
              <a:solidFill>
                <a:srgbClr val="1C1A55"/>
              </a:solidFill>
            </a:endParaRPr>
          </a:p>
        </p:txBody>
      </p:sp>
      <p:sp>
        <p:nvSpPr>
          <p:cNvPr id="4" name="Rectangle: Rounded Corners 3">
            <a:extLst>
              <a:ext uri="{FF2B5EF4-FFF2-40B4-BE49-F238E27FC236}">
                <a16:creationId xmlns:a16="http://schemas.microsoft.com/office/drawing/2014/main" id="{BBA05F2E-C0B5-23DB-CBDC-CF2730720F83}"/>
              </a:ext>
            </a:extLst>
          </p:cNvPr>
          <p:cNvSpPr/>
          <p:nvPr/>
        </p:nvSpPr>
        <p:spPr>
          <a:xfrm>
            <a:off x="1020206" y="1267250"/>
            <a:ext cx="10151588" cy="914400"/>
          </a:xfrm>
          <a:prstGeom prst="roundRect">
            <a:avLst/>
          </a:prstGeom>
          <a:ln>
            <a:solidFill>
              <a:srgbClr val="1C1A55"/>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a:p>
            <a:pPr algn="ctr"/>
            <a:r>
              <a:rPr lang="en-US" dirty="0"/>
              <a:t>The dataset provides granular transaction-level information, allowing accurate modeling of customer value, loyalty, and purchasing patterns for effective segmentation and prediction.</a:t>
            </a:r>
          </a:p>
          <a:p>
            <a:pPr algn="ctr"/>
            <a:endParaRPr lang="en-US" dirty="0"/>
          </a:p>
        </p:txBody>
      </p:sp>
      <p:sp>
        <p:nvSpPr>
          <p:cNvPr id="7" name="Rectangle: Rounded Corners 6">
            <a:extLst>
              <a:ext uri="{FF2B5EF4-FFF2-40B4-BE49-F238E27FC236}">
                <a16:creationId xmlns:a16="http://schemas.microsoft.com/office/drawing/2014/main" id="{28EF810E-492D-9366-15E1-4F1DE3DDF104}"/>
              </a:ext>
            </a:extLst>
          </p:cNvPr>
          <p:cNvSpPr/>
          <p:nvPr/>
        </p:nvSpPr>
        <p:spPr>
          <a:xfrm>
            <a:off x="2108847" y="146577"/>
            <a:ext cx="7974306" cy="914400"/>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4800" b="1" dirty="0">
                <a:solidFill>
                  <a:schemeClr val="dk1"/>
                </a:solidFill>
              </a:rPr>
              <a:t>Data Acquisition</a:t>
            </a:r>
          </a:p>
        </p:txBody>
      </p:sp>
      <p:pic>
        <p:nvPicPr>
          <p:cNvPr id="9" name="Picture 8">
            <a:extLst>
              <a:ext uri="{FF2B5EF4-FFF2-40B4-BE49-F238E27FC236}">
                <a16:creationId xmlns:a16="http://schemas.microsoft.com/office/drawing/2014/main" id="{B22B718F-D055-95C7-73A8-548B3C264142}"/>
              </a:ext>
            </a:extLst>
          </p:cNvPr>
          <p:cNvPicPr>
            <a:picLocks noChangeAspect="1"/>
          </p:cNvPicPr>
          <p:nvPr/>
        </p:nvPicPr>
        <p:blipFill>
          <a:blip r:embed="rId2"/>
          <a:stretch>
            <a:fillRect/>
          </a:stretch>
        </p:blipFill>
        <p:spPr>
          <a:xfrm>
            <a:off x="483409" y="73288"/>
            <a:ext cx="1065829" cy="1065829"/>
          </a:xfrm>
          <a:prstGeom prst="rect">
            <a:avLst/>
          </a:prstGeom>
        </p:spPr>
      </p:pic>
      <p:pic>
        <p:nvPicPr>
          <p:cNvPr id="11" name="Picture 10">
            <a:extLst>
              <a:ext uri="{FF2B5EF4-FFF2-40B4-BE49-F238E27FC236}">
                <a16:creationId xmlns:a16="http://schemas.microsoft.com/office/drawing/2014/main" id="{71339559-9241-4891-3AEC-C341738F1124}"/>
              </a:ext>
            </a:extLst>
          </p:cNvPr>
          <p:cNvPicPr>
            <a:picLocks noChangeAspect="1"/>
          </p:cNvPicPr>
          <p:nvPr/>
        </p:nvPicPr>
        <p:blipFill>
          <a:blip r:embed="rId3"/>
          <a:stretch>
            <a:fillRect/>
          </a:stretch>
        </p:blipFill>
        <p:spPr>
          <a:xfrm>
            <a:off x="5071269" y="2609244"/>
            <a:ext cx="6747097" cy="3150895"/>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546527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986E84C-BF45-4E25-334E-404705386BB7}"/>
              </a:ext>
            </a:extLst>
          </p:cNvPr>
          <p:cNvSpPr/>
          <p:nvPr/>
        </p:nvSpPr>
        <p:spPr>
          <a:xfrm>
            <a:off x="2108847" y="146577"/>
            <a:ext cx="7974306" cy="914400"/>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b="1" dirty="0"/>
              <a:t>Model Development Process</a:t>
            </a:r>
            <a:endParaRPr lang="en-US" sz="4800" b="1" dirty="0">
              <a:solidFill>
                <a:schemeClr val="dk1"/>
              </a:solidFill>
            </a:endParaRPr>
          </a:p>
        </p:txBody>
      </p:sp>
      <p:graphicFrame>
        <p:nvGraphicFramePr>
          <p:cNvPr id="14" name="Diagram 13">
            <a:extLst>
              <a:ext uri="{FF2B5EF4-FFF2-40B4-BE49-F238E27FC236}">
                <a16:creationId xmlns:a16="http://schemas.microsoft.com/office/drawing/2014/main" id="{CB484CD4-886F-B73A-1D9D-894343449B3D}"/>
              </a:ext>
            </a:extLst>
          </p:cNvPr>
          <p:cNvGraphicFramePr/>
          <p:nvPr>
            <p:extLst>
              <p:ext uri="{D42A27DB-BD31-4B8C-83A1-F6EECF244321}">
                <p14:modId xmlns:p14="http://schemas.microsoft.com/office/powerpoint/2010/main" val="4169160289"/>
              </p:ext>
            </p:extLst>
          </p:nvPr>
        </p:nvGraphicFramePr>
        <p:xfrm>
          <a:off x="914400" y="1132115"/>
          <a:ext cx="10598716" cy="47352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6660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9E7567C-4E7F-7653-3BA7-118179A55174}"/>
              </a:ext>
            </a:extLst>
          </p:cNvPr>
          <p:cNvSpPr/>
          <p:nvPr/>
        </p:nvSpPr>
        <p:spPr>
          <a:xfrm>
            <a:off x="2108847" y="146577"/>
            <a:ext cx="7974306" cy="914400"/>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b="1" dirty="0"/>
              <a:t>Explore Data Analysis (EDA)</a:t>
            </a:r>
            <a:endParaRPr lang="en-US" sz="4800" b="1" dirty="0">
              <a:solidFill>
                <a:schemeClr val="dk1"/>
              </a:solidFill>
            </a:endParaRPr>
          </a:p>
        </p:txBody>
      </p:sp>
      <p:pic>
        <p:nvPicPr>
          <p:cNvPr id="6" name="Picture 5">
            <a:extLst>
              <a:ext uri="{FF2B5EF4-FFF2-40B4-BE49-F238E27FC236}">
                <a16:creationId xmlns:a16="http://schemas.microsoft.com/office/drawing/2014/main" id="{FCB798DF-90FD-A94F-3874-315AD3D25618}"/>
              </a:ext>
            </a:extLst>
          </p:cNvPr>
          <p:cNvPicPr>
            <a:picLocks noChangeAspect="1"/>
          </p:cNvPicPr>
          <p:nvPr/>
        </p:nvPicPr>
        <p:blipFill>
          <a:blip r:embed="rId2"/>
          <a:stretch>
            <a:fillRect/>
          </a:stretch>
        </p:blipFill>
        <p:spPr>
          <a:xfrm>
            <a:off x="7169796" y="1515962"/>
            <a:ext cx="4670077" cy="2547315"/>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8" name="TextBox 7">
            <a:extLst>
              <a:ext uri="{FF2B5EF4-FFF2-40B4-BE49-F238E27FC236}">
                <a16:creationId xmlns:a16="http://schemas.microsoft.com/office/drawing/2014/main" id="{C847D0C8-AE4A-041B-B3EE-04F18199BF93}"/>
              </a:ext>
            </a:extLst>
          </p:cNvPr>
          <p:cNvSpPr txBox="1"/>
          <p:nvPr/>
        </p:nvSpPr>
        <p:spPr>
          <a:xfrm>
            <a:off x="355276" y="4349976"/>
            <a:ext cx="5544642" cy="1200329"/>
          </a:xfrm>
          <a:prstGeom prst="rect">
            <a:avLst/>
          </a:prstGeom>
          <a:ln>
            <a:solidFill>
              <a:srgbClr val="1C1A55"/>
            </a:solidFill>
          </a:ln>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anose="020B0604020202020204" pitchFamily="34" charset="0"/>
              <a:buChar char="•"/>
            </a:pPr>
            <a:r>
              <a:rPr lang="en-US" dirty="0"/>
              <a:t>The dataset is </a:t>
            </a:r>
            <a:r>
              <a:rPr lang="en-US" b="1" dirty="0"/>
              <a:t>highly clean</a:t>
            </a:r>
            <a:r>
              <a:rPr lang="en-US" dirty="0"/>
              <a:t>, with </a:t>
            </a:r>
            <a:r>
              <a:rPr lang="en-US" b="1" dirty="0"/>
              <a:t>~98.7% unique records</a:t>
            </a:r>
            <a:r>
              <a:rPr lang="en-US" dirty="0"/>
              <a:t> and only </a:t>
            </a:r>
            <a:r>
              <a:rPr lang="en-US" b="1" dirty="0"/>
              <a:t>~1.3% duplicates</a:t>
            </a:r>
            <a:r>
              <a:rPr lang="en-US" dirty="0"/>
              <a:t>.</a:t>
            </a:r>
          </a:p>
          <a:p>
            <a:pPr>
              <a:buFont typeface="Arial" panose="020B0604020202020204" pitchFamily="34" charset="0"/>
              <a:buChar char="•"/>
            </a:pPr>
            <a:r>
              <a:rPr lang="en-US" dirty="0"/>
              <a:t>Duplicate entries form a </a:t>
            </a:r>
            <a:r>
              <a:rPr lang="en-US" b="1" dirty="0"/>
              <a:t>very small fraction</a:t>
            </a:r>
            <a:r>
              <a:rPr lang="en-US" dirty="0"/>
              <a:t>, indicating good data quality with minimal redundancy.</a:t>
            </a:r>
          </a:p>
        </p:txBody>
      </p:sp>
      <p:sp>
        <p:nvSpPr>
          <p:cNvPr id="10" name="Rectangle 2">
            <a:extLst>
              <a:ext uri="{FF2B5EF4-FFF2-40B4-BE49-F238E27FC236}">
                <a16:creationId xmlns:a16="http://schemas.microsoft.com/office/drawing/2014/main" id="{75E33F3C-E280-1299-AB1A-4F49B092545A}"/>
              </a:ext>
            </a:extLst>
          </p:cNvPr>
          <p:cNvSpPr>
            <a:spLocks noChangeArrowheads="1"/>
          </p:cNvSpPr>
          <p:nvPr/>
        </p:nvSpPr>
        <p:spPr bwMode="auto">
          <a:xfrm>
            <a:off x="6055230" y="4349975"/>
            <a:ext cx="5501398" cy="1200329"/>
          </a:xfrm>
          <a:prstGeom prst="rect">
            <a:avLst/>
          </a:prstGeom>
          <a:ln>
            <a:solidFill>
              <a:srgbClr val="1C1A55"/>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 </a:t>
            </a:r>
            <a:r>
              <a:rPr kumimoji="0" lang="en-US" altLang="en-US" sz="1800" b="1" i="0" u="none" strike="noStrike" cap="none" normalizeH="0" baseline="0" dirty="0">
                <a:ln>
                  <a:noFill/>
                </a:ln>
                <a:solidFill>
                  <a:schemeClr val="tx1"/>
                </a:solidFill>
                <a:effectLst/>
              </a:rPr>
              <a:t>small set of products dominates transaction volume</a:t>
            </a:r>
            <a:r>
              <a:rPr kumimoji="0" lang="en-US" altLang="en-US" sz="1800" b="0" i="0" u="none" strike="noStrike" cap="none" normalizeH="0" baseline="0" dirty="0">
                <a:ln>
                  <a:noFill/>
                </a:ln>
                <a:solidFill>
                  <a:schemeClr val="tx1"/>
                </a:solidFill>
                <a:effectLst/>
              </a:rPr>
              <a:t>, indicating a clear </a:t>
            </a:r>
            <a:r>
              <a:rPr kumimoji="0" lang="en-US" altLang="en-US" sz="1800" b="1" i="0" u="none" strike="noStrike" cap="none" normalizeH="0" baseline="0" dirty="0">
                <a:ln>
                  <a:noFill/>
                </a:ln>
                <a:solidFill>
                  <a:schemeClr val="tx1"/>
                </a:solidFill>
                <a:effectLst/>
              </a:rPr>
              <a:t>demand concentration</a:t>
            </a:r>
            <a:r>
              <a:rPr kumimoji="0" lang="en-US" altLang="en-US" sz="1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top product significantly outperforms others, suggesting </a:t>
            </a:r>
            <a:r>
              <a:rPr kumimoji="0" lang="en-US" altLang="en-US" sz="1800" b="1" i="0" u="none" strike="noStrike" cap="none" normalizeH="0" baseline="0" dirty="0">
                <a:ln>
                  <a:noFill/>
                </a:ln>
                <a:solidFill>
                  <a:schemeClr val="tx1"/>
                </a:solidFill>
                <a:effectLst/>
              </a:rPr>
              <a:t>hero SKUs</a:t>
            </a:r>
            <a:r>
              <a:rPr kumimoji="0" lang="en-US" altLang="en-US" sz="1800" b="0" i="0" u="none" strike="noStrike" cap="none" normalizeH="0" baseline="0" dirty="0">
                <a:ln>
                  <a:noFill/>
                </a:ln>
                <a:solidFill>
                  <a:schemeClr val="tx1"/>
                </a:solidFill>
                <a:effectLst/>
              </a:rPr>
              <a:t> driving sales frequency..</a:t>
            </a:r>
          </a:p>
        </p:txBody>
      </p:sp>
      <p:pic>
        <p:nvPicPr>
          <p:cNvPr id="12" name="Picture 11">
            <a:extLst>
              <a:ext uri="{FF2B5EF4-FFF2-40B4-BE49-F238E27FC236}">
                <a16:creationId xmlns:a16="http://schemas.microsoft.com/office/drawing/2014/main" id="{49B6F55F-7FCD-EA3C-38AE-E5094810E653}"/>
              </a:ext>
            </a:extLst>
          </p:cNvPr>
          <p:cNvPicPr>
            <a:picLocks noChangeAspect="1"/>
          </p:cNvPicPr>
          <p:nvPr/>
        </p:nvPicPr>
        <p:blipFill>
          <a:blip r:embed="rId3"/>
          <a:stretch>
            <a:fillRect/>
          </a:stretch>
        </p:blipFill>
        <p:spPr>
          <a:xfrm>
            <a:off x="893751" y="1263092"/>
            <a:ext cx="2767022" cy="2884768"/>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14" name="Picture 13">
            <a:extLst>
              <a:ext uri="{FF2B5EF4-FFF2-40B4-BE49-F238E27FC236}">
                <a16:creationId xmlns:a16="http://schemas.microsoft.com/office/drawing/2014/main" id="{877811F9-F9C4-B517-8959-C3DD794C5437}"/>
              </a:ext>
            </a:extLst>
          </p:cNvPr>
          <p:cNvPicPr>
            <a:picLocks noChangeAspect="1"/>
          </p:cNvPicPr>
          <p:nvPr/>
        </p:nvPicPr>
        <p:blipFill>
          <a:blip r:embed="rId4"/>
          <a:stretch>
            <a:fillRect/>
          </a:stretch>
        </p:blipFill>
        <p:spPr>
          <a:xfrm>
            <a:off x="4378691" y="1318960"/>
            <a:ext cx="2609015" cy="2142206"/>
          </a:xfrm>
          <a:prstGeom prst="rect">
            <a:avLst/>
          </a:prstGeom>
        </p:spPr>
      </p:pic>
    </p:spTree>
    <p:extLst>
      <p:ext uri="{BB962C8B-B14F-4D97-AF65-F5344CB8AC3E}">
        <p14:creationId xmlns:p14="http://schemas.microsoft.com/office/powerpoint/2010/main" val="2771860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F7069B-3B26-67C8-FE2D-62B8AD764505}"/>
              </a:ext>
            </a:extLst>
          </p:cNvPr>
          <p:cNvPicPr>
            <a:picLocks noChangeAspect="1"/>
          </p:cNvPicPr>
          <p:nvPr/>
        </p:nvPicPr>
        <p:blipFill>
          <a:blip r:embed="rId2"/>
          <a:stretch>
            <a:fillRect/>
          </a:stretch>
        </p:blipFill>
        <p:spPr>
          <a:xfrm>
            <a:off x="7467037" y="1496353"/>
            <a:ext cx="4514883" cy="34576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6" name="Rectangle: Rounded Corners 5">
            <a:extLst>
              <a:ext uri="{FF2B5EF4-FFF2-40B4-BE49-F238E27FC236}">
                <a16:creationId xmlns:a16="http://schemas.microsoft.com/office/drawing/2014/main" id="{BD67B9DF-7961-1A0A-1D07-C3D65627320C}"/>
              </a:ext>
            </a:extLst>
          </p:cNvPr>
          <p:cNvSpPr/>
          <p:nvPr/>
        </p:nvSpPr>
        <p:spPr>
          <a:xfrm>
            <a:off x="2108847" y="146577"/>
            <a:ext cx="7974306" cy="914400"/>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b="1" dirty="0"/>
              <a:t>Correlation Heatmap Plot</a:t>
            </a:r>
          </a:p>
        </p:txBody>
      </p:sp>
      <p:sp>
        <p:nvSpPr>
          <p:cNvPr id="3" name="TextBox 2">
            <a:extLst>
              <a:ext uri="{FF2B5EF4-FFF2-40B4-BE49-F238E27FC236}">
                <a16:creationId xmlns:a16="http://schemas.microsoft.com/office/drawing/2014/main" id="{66871C3E-F588-8721-0F52-55DCC93FDFFA}"/>
              </a:ext>
            </a:extLst>
          </p:cNvPr>
          <p:cNvSpPr txBox="1"/>
          <p:nvPr/>
        </p:nvSpPr>
        <p:spPr>
          <a:xfrm>
            <a:off x="684344" y="1986365"/>
            <a:ext cx="6132886" cy="2585323"/>
          </a:xfrm>
          <a:prstGeom prst="rect">
            <a:avLst/>
          </a:prstGeom>
          <a:noFill/>
        </p:spPr>
        <p:txBody>
          <a:bodyPr wrap="square">
            <a:spAutoFit/>
          </a:bodyPr>
          <a:lstStyle/>
          <a:p>
            <a:pPr>
              <a:buNone/>
            </a:pPr>
            <a:r>
              <a:rPr lang="en-US" b="1" dirty="0"/>
              <a:t>RFM Correlation Insights</a:t>
            </a:r>
          </a:p>
          <a:p>
            <a:pPr>
              <a:buFont typeface="Arial" panose="020B0604020202020204" pitchFamily="34" charset="0"/>
              <a:buChar char="•"/>
            </a:pPr>
            <a:r>
              <a:rPr lang="en-US" b="1" dirty="0"/>
              <a:t>Frequency &amp; Monetary Value (0.55):</a:t>
            </a:r>
            <a:r>
              <a:rPr lang="en-US" dirty="0"/>
              <a:t> Frequent customers tend to spend more.</a:t>
            </a:r>
          </a:p>
          <a:p>
            <a:pPr>
              <a:buFont typeface="Arial" panose="020B0604020202020204" pitchFamily="34" charset="0"/>
              <a:buChar char="•"/>
            </a:pPr>
            <a:r>
              <a:rPr lang="en-US" b="1" dirty="0"/>
              <a:t>Recency vs Frequency (-0.26):</a:t>
            </a:r>
            <a:r>
              <a:rPr lang="en-US" dirty="0"/>
              <a:t> Recent buyers are slightly more active.</a:t>
            </a:r>
          </a:p>
          <a:p>
            <a:pPr>
              <a:buFont typeface="Arial" panose="020B0604020202020204" pitchFamily="34" charset="0"/>
              <a:buChar char="•"/>
            </a:pPr>
            <a:r>
              <a:rPr lang="en-US" b="1" dirty="0"/>
              <a:t>Recency vs Monetary (-0.12):</a:t>
            </a:r>
            <a:r>
              <a:rPr lang="en-US" dirty="0"/>
              <a:t> Recent purchase does not strongly indicate higher spend.</a:t>
            </a:r>
          </a:p>
          <a:p>
            <a:pPr>
              <a:buFont typeface="Arial" panose="020B0604020202020204" pitchFamily="34" charset="0"/>
              <a:buChar char="•"/>
            </a:pPr>
            <a:r>
              <a:rPr lang="en-US" b="1" dirty="0"/>
              <a:t>Key Takeaway:</a:t>
            </a:r>
            <a:r>
              <a:rPr lang="en-US" dirty="0"/>
              <a:t> Low correlation confirms RFM variables capture distinct behaviors, supporting effective customer segmentation.</a:t>
            </a:r>
          </a:p>
        </p:txBody>
      </p:sp>
    </p:spTree>
    <p:extLst>
      <p:ext uri="{BB962C8B-B14F-4D97-AF65-F5344CB8AC3E}">
        <p14:creationId xmlns:p14="http://schemas.microsoft.com/office/powerpoint/2010/main" val="2308384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2E7EB4-AFE9-4D69-B7C2-3E917C0C500A}"/>
              </a:ext>
            </a:extLst>
          </p:cNvPr>
          <p:cNvSpPr txBox="1"/>
          <p:nvPr/>
        </p:nvSpPr>
        <p:spPr>
          <a:xfrm>
            <a:off x="246073" y="4704156"/>
            <a:ext cx="6095028" cy="1107996"/>
          </a:xfrm>
          <a:prstGeom prst="rect">
            <a:avLst/>
          </a:prstGeom>
          <a:ln>
            <a:solidFill>
              <a:srgbClr val="1C1A55"/>
            </a:solidFill>
          </a:ln>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b="1" dirty="0"/>
              <a:t>Recency</a:t>
            </a:r>
          </a:p>
          <a:p>
            <a:pPr>
              <a:buFont typeface="Arial" panose="020B0604020202020204" pitchFamily="34" charset="0"/>
              <a:buChar char="•"/>
            </a:pPr>
            <a:r>
              <a:rPr lang="en-US" sz="1600" dirty="0"/>
              <a:t>The recency distribution is </a:t>
            </a:r>
            <a:r>
              <a:rPr lang="en-US" sz="1600" b="1" dirty="0"/>
              <a:t>right-skewed</a:t>
            </a:r>
            <a:r>
              <a:rPr lang="en-US" sz="1600" dirty="0"/>
              <a:t>, indicating that most customers have made </a:t>
            </a:r>
            <a:r>
              <a:rPr lang="en-US" sz="1600" b="1" dirty="0"/>
              <a:t>recent purchases</a:t>
            </a:r>
            <a:r>
              <a:rPr lang="en-US" sz="1600" dirty="0"/>
              <a:t>, while a smaller group has been inactive for a long time.</a:t>
            </a:r>
          </a:p>
        </p:txBody>
      </p:sp>
      <p:sp>
        <p:nvSpPr>
          <p:cNvPr id="7" name="TextBox 6">
            <a:extLst>
              <a:ext uri="{FF2B5EF4-FFF2-40B4-BE49-F238E27FC236}">
                <a16:creationId xmlns:a16="http://schemas.microsoft.com/office/drawing/2014/main" id="{63418AF5-29F0-46C1-B659-345B7B8F20F2}"/>
              </a:ext>
            </a:extLst>
          </p:cNvPr>
          <p:cNvSpPr txBox="1"/>
          <p:nvPr/>
        </p:nvSpPr>
        <p:spPr>
          <a:xfrm>
            <a:off x="3251362" y="3072490"/>
            <a:ext cx="6095028" cy="1354217"/>
          </a:xfrm>
          <a:prstGeom prst="rect">
            <a:avLst/>
          </a:prstGeom>
          <a:ln>
            <a:solidFill>
              <a:srgbClr val="1C1A55"/>
            </a:solidFill>
          </a:ln>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b="1" dirty="0"/>
              <a:t>Frequency</a:t>
            </a:r>
          </a:p>
          <a:p>
            <a:pPr>
              <a:buFont typeface="Arial" panose="020B0604020202020204" pitchFamily="34" charset="0"/>
              <a:buChar char="•"/>
            </a:pPr>
            <a:r>
              <a:rPr lang="en-US" sz="1600" dirty="0"/>
              <a:t>Purchase frequency is </a:t>
            </a:r>
            <a:r>
              <a:rPr lang="en-US" sz="1600" b="1" dirty="0"/>
              <a:t>heavily right-skewed</a:t>
            </a:r>
            <a:r>
              <a:rPr lang="en-US" sz="1600" dirty="0"/>
              <a:t>, with most customers making </a:t>
            </a:r>
            <a:r>
              <a:rPr lang="en-US" sz="1600" b="1" dirty="0"/>
              <a:t>few transactions</a:t>
            </a:r>
            <a:r>
              <a:rPr lang="en-US" sz="1600" dirty="0"/>
              <a:t>.</a:t>
            </a:r>
          </a:p>
          <a:p>
            <a:pPr>
              <a:buFont typeface="Arial" panose="020B0604020202020204" pitchFamily="34" charset="0"/>
              <a:buChar char="•"/>
            </a:pPr>
            <a:r>
              <a:rPr lang="en-US" sz="1600" dirty="0"/>
              <a:t>A small subset of customers shows </a:t>
            </a:r>
            <a:r>
              <a:rPr lang="en-US" sz="1600" b="1" dirty="0"/>
              <a:t>high repeat purchases</a:t>
            </a:r>
            <a:r>
              <a:rPr lang="en-US" sz="1600" dirty="0"/>
              <a:t>, representing the </a:t>
            </a:r>
            <a:r>
              <a:rPr lang="en-US" sz="1600" b="1" dirty="0"/>
              <a:t>core loyal customer base</a:t>
            </a:r>
            <a:r>
              <a:rPr lang="en-US" sz="1600" dirty="0"/>
              <a:t>.</a:t>
            </a:r>
          </a:p>
        </p:txBody>
      </p:sp>
      <p:sp>
        <p:nvSpPr>
          <p:cNvPr id="9" name="TextBox 8">
            <a:extLst>
              <a:ext uri="{FF2B5EF4-FFF2-40B4-BE49-F238E27FC236}">
                <a16:creationId xmlns:a16="http://schemas.microsoft.com/office/drawing/2014/main" id="{54848573-BE78-EF7F-4B7B-92CEC3236B9B}"/>
              </a:ext>
            </a:extLst>
          </p:cNvPr>
          <p:cNvSpPr txBox="1"/>
          <p:nvPr/>
        </p:nvSpPr>
        <p:spPr>
          <a:xfrm>
            <a:off x="6246459" y="1295729"/>
            <a:ext cx="5885358" cy="1384995"/>
          </a:xfrm>
          <a:prstGeom prst="rect">
            <a:avLst/>
          </a:prstGeom>
          <a:ln>
            <a:solidFill>
              <a:srgbClr val="1C1A55"/>
            </a:solidFill>
          </a:ln>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b="1" dirty="0"/>
              <a:t>Monetary Value</a:t>
            </a:r>
          </a:p>
          <a:p>
            <a:pPr>
              <a:buFont typeface="Arial" panose="020B0604020202020204" pitchFamily="34" charset="0"/>
              <a:buChar char="•"/>
            </a:pPr>
            <a:r>
              <a:rPr lang="en-US" sz="1600" dirty="0"/>
              <a:t>Monetary value is </a:t>
            </a:r>
            <a:r>
              <a:rPr lang="en-US" sz="1600" b="1" dirty="0"/>
              <a:t>extremely skewed</a:t>
            </a:r>
            <a:r>
              <a:rPr lang="en-US" sz="1600" dirty="0"/>
              <a:t>, where the majority of customers contribute </a:t>
            </a:r>
            <a:r>
              <a:rPr lang="en-US" sz="1600" b="1" dirty="0"/>
              <a:t>low to moderate revenue</a:t>
            </a:r>
            <a:r>
              <a:rPr lang="en-US" sz="1600" dirty="0"/>
              <a:t>.</a:t>
            </a:r>
          </a:p>
          <a:p>
            <a:pPr>
              <a:buFont typeface="Arial" panose="020B0604020202020204" pitchFamily="34" charset="0"/>
              <a:buChar char="•"/>
            </a:pPr>
            <a:r>
              <a:rPr lang="en-US" sz="1600" dirty="0"/>
              <a:t>A </a:t>
            </a:r>
            <a:r>
              <a:rPr lang="en-US" sz="1600" b="1" dirty="0"/>
              <a:t>small group of high-value customers</a:t>
            </a:r>
            <a:r>
              <a:rPr lang="en-US" sz="1600" dirty="0"/>
              <a:t> drives a disproportionately large share of total revenue</a:t>
            </a:r>
            <a:r>
              <a:rPr lang="en-US" dirty="0"/>
              <a:t>.</a:t>
            </a:r>
          </a:p>
        </p:txBody>
      </p:sp>
      <p:pic>
        <p:nvPicPr>
          <p:cNvPr id="11" name="Picture 10">
            <a:extLst>
              <a:ext uri="{FF2B5EF4-FFF2-40B4-BE49-F238E27FC236}">
                <a16:creationId xmlns:a16="http://schemas.microsoft.com/office/drawing/2014/main" id="{1416A86C-6986-41B4-02E5-A35F4D7CF121}"/>
              </a:ext>
            </a:extLst>
          </p:cNvPr>
          <p:cNvPicPr>
            <a:picLocks noChangeAspect="1"/>
          </p:cNvPicPr>
          <p:nvPr/>
        </p:nvPicPr>
        <p:blipFill>
          <a:blip r:embed="rId2"/>
          <a:stretch>
            <a:fillRect/>
          </a:stretch>
        </p:blipFill>
        <p:spPr>
          <a:xfrm>
            <a:off x="60183" y="1045848"/>
            <a:ext cx="6095028" cy="19123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Rectangle: Rounded Corners 11">
            <a:extLst>
              <a:ext uri="{FF2B5EF4-FFF2-40B4-BE49-F238E27FC236}">
                <a16:creationId xmlns:a16="http://schemas.microsoft.com/office/drawing/2014/main" id="{69A95357-A475-49E5-BE80-F78F6E53BC40}"/>
              </a:ext>
            </a:extLst>
          </p:cNvPr>
          <p:cNvSpPr/>
          <p:nvPr/>
        </p:nvSpPr>
        <p:spPr>
          <a:xfrm>
            <a:off x="1975497" y="62111"/>
            <a:ext cx="7974306" cy="914400"/>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b="1" dirty="0"/>
              <a:t>RFM Model </a:t>
            </a:r>
            <a:endParaRPr lang="en-US" sz="4800" b="1" dirty="0">
              <a:solidFill>
                <a:schemeClr val="dk1"/>
              </a:solidFill>
            </a:endParaRPr>
          </a:p>
        </p:txBody>
      </p:sp>
    </p:spTree>
    <p:extLst>
      <p:ext uri="{BB962C8B-B14F-4D97-AF65-F5344CB8AC3E}">
        <p14:creationId xmlns:p14="http://schemas.microsoft.com/office/powerpoint/2010/main" val="2277217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5CF13CB-C849-EB6D-E9EB-C7E0DE6168FB}"/>
              </a:ext>
            </a:extLst>
          </p:cNvPr>
          <p:cNvSpPr/>
          <p:nvPr/>
        </p:nvSpPr>
        <p:spPr>
          <a:xfrm>
            <a:off x="2108847" y="146577"/>
            <a:ext cx="7974306" cy="914400"/>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b="1" dirty="0"/>
              <a:t>Model Selection</a:t>
            </a:r>
            <a:endParaRPr lang="en-US" sz="4800" b="1" dirty="0">
              <a:solidFill>
                <a:schemeClr val="dk1"/>
              </a:solidFill>
            </a:endParaRPr>
          </a:p>
        </p:txBody>
      </p:sp>
      <p:sp>
        <p:nvSpPr>
          <p:cNvPr id="6" name="TextBox 5">
            <a:extLst>
              <a:ext uri="{FF2B5EF4-FFF2-40B4-BE49-F238E27FC236}">
                <a16:creationId xmlns:a16="http://schemas.microsoft.com/office/drawing/2014/main" id="{B2C17FB2-F241-66B2-F811-47B5D1754788}"/>
              </a:ext>
            </a:extLst>
          </p:cNvPr>
          <p:cNvSpPr txBox="1"/>
          <p:nvPr/>
        </p:nvSpPr>
        <p:spPr>
          <a:xfrm>
            <a:off x="675608" y="1445297"/>
            <a:ext cx="6103765" cy="3847207"/>
          </a:xfrm>
          <a:prstGeom prst="rect">
            <a:avLst/>
          </a:prstGeom>
          <a:ln>
            <a:solidFill>
              <a:srgbClr val="1C1A55"/>
            </a:solidFill>
          </a:ln>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sz="2800" b="1" dirty="0">
                <a:solidFill>
                  <a:srgbClr val="25225C"/>
                </a:solidFill>
              </a:rPr>
              <a:t>K-Means Clustering</a:t>
            </a:r>
          </a:p>
          <a:p>
            <a:pPr>
              <a:buFont typeface="Arial" panose="020B0604020202020204" pitchFamily="34" charset="0"/>
              <a:buChar char="•"/>
            </a:pPr>
            <a:r>
              <a:rPr lang="en-US" sz="1600" dirty="0">
                <a:solidFill>
                  <a:srgbClr val="25225C"/>
                </a:solidFill>
              </a:rPr>
              <a:t>Achieved the </a:t>
            </a:r>
            <a:r>
              <a:rPr lang="en-US" sz="1600" b="1" dirty="0">
                <a:solidFill>
                  <a:srgbClr val="25225C"/>
                </a:solidFill>
              </a:rPr>
              <a:t>highest Silhouette Score (0.34)</a:t>
            </a:r>
            <a:endParaRPr lang="en-US" sz="1600" dirty="0">
              <a:solidFill>
                <a:srgbClr val="25225C"/>
              </a:solidFill>
            </a:endParaRPr>
          </a:p>
          <a:p>
            <a:pPr>
              <a:buFont typeface="Arial" panose="020B0604020202020204" pitchFamily="34" charset="0"/>
              <a:buChar char="•"/>
            </a:pPr>
            <a:r>
              <a:rPr lang="en-US" sz="1600" dirty="0">
                <a:solidFill>
                  <a:srgbClr val="25225C"/>
                </a:solidFill>
              </a:rPr>
              <a:t>Produces </a:t>
            </a:r>
            <a:r>
              <a:rPr lang="en-US" sz="1600" b="1" dirty="0">
                <a:solidFill>
                  <a:srgbClr val="25225C"/>
                </a:solidFill>
              </a:rPr>
              <a:t>well-separated and compact clusters</a:t>
            </a:r>
            <a:endParaRPr lang="en-US" sz="1600" dirty="0">
              <a:solidFill>
                <a:srgbClr val="25225C"/>
              </a:solidFill>
            </a:endParaRPr>
          </a:p>
          <a:p>
            <a:pPr>
              <a:buFont typeface="Arial" panose="020B0604020202020204" pitchFamily="34" charset="0"/>
              <a:buChar char="•"/>
            </a:pPr>
            <a:r>
              <a:rPr lang="en-US" sz="1600" dirty="0">
                <a:solidFill>
                  <a:srgbClr val="25225C"/>
                </a:solidFill>
              </a:rPr>
              <a:t>Highly suitable for </a:t>
            </a:r>
            <a:r>
              <a:rPr lang="en-US" sz="1600" b="1" dirty="0">
                <a:solidFill>
                  <a:srgbClr val="25225C"/>
                </a:solidFill>
              </a:rPr>
              <a:t>RFM-based customer segmentation</a:t>
            </a:r>
            <a:endParaRPr lang="en-US" sz="1600" dirty="0">
              <a:solidFill>
                <a:srgbClr val="25225C"/>
              </a:solidFill>
            </a:endParaRPr>
          </a:p>
          <a:p>
            <a:pPr>
              <a:buFont typeface="Arial" panose="020B0604020202020204" pitchFamily="34" charset="0"/>
              <a:buChar char="•"/>
            </a:pPr>
            <a:r>
              <a:rPr lang="en-US" sz="1600" dirty="0">
                <a:solidFill>
                  <a:srgbClr val="25225C"/>
                </a:solidFill>
              </a:rPr>
              <a:t>Easy to interpret and scalable for large datasets</a:t>
            </a:r>
          </a:p>
          <a:p>
            <a:pPr>
              <a:buNone/>
            </a:pPr>
            <a:r>
              <a:rPr lang="en-US" sz="2800" b="1" dirty="0">
                <a:solidFill>
                  <a:srgbClr val="25225C"/>
                </a:solidFill>
              </a:rPr>
              <a:t>Hierarchical Clustering</a:t>
            </a:r>
          </a:p>
          <a:p>
            <a:pPr>
              <a:buFont typeface="Arial" panose="020B0604020202020204" pitchFamily="34" charset="0"/>
              <a:buChar char="•"/>
            </a:pPr>
            <a:r>
              <a:rPr lang="en-US" sz="1600" dirty="0">
                <a:solidFill>
                  <a:srgbClr val="25225C"/>
                </a:solidFill>
              </a:rPr>
              <a:t>Delivered a </a:t>
            </a:r>
            <a:r>
              <a:rPr lang="en-US" sz="1600" b="1" dirty="0">
                <a:solidFill>
                  <a:srgbClr val="25225C"/>
                </a:solidFill>
              </a:rPr>
              <a:t>moderate Silhouette Score (0.31)</a:t>
            </a:r>
            <a:endParaRPr lang="en-US" sz="1600" dirty="0">
              <a:solidFill>
                <a:srgbClr val="25225C"/>
              </a:solidFill>
            </a:endParaRPr>
          </a:p>
          <a:p>
            <a:pPr>
              <a:buFont typeface="Arial" panose="020B0604020202020204" pitchFamily="34" charset="0"/>
              <a:buChar char="•"/>
            </a:pPr>
            <a:r>
              <a:rPr lang="en-US" sz="1600" dirty="0">
                <a:solidFill>
                  <a:srgbClr val="25225C"/>
                </a:solidFill>
              </a:rPr>
              <a:t>Useful for understanding </a:t>
            </a:r>
            <a:r>
              <a:rPr lang="en-US" sz="1600" b="1" dirty="0">
                <a:solidFill>
                  <a:srgbClr val="25225C"/>
                </a:solidFill>
              </a:rPr>
              <a:t>cluster relationships</a:t>
            </a:r>
            <a:endParaRPr lang="en-US" sz="1600" dirty="0">
              <a:solidFill>
                <a:srgbClr val="25225C"/>
              </a:solidFill>
            </a:endParaRPr>
          </a:p>
          <a:p>
            <a:pPr>
              <a:buFont typeface="Arial" panose="020B0604020202020204" pitchFamily="34" charset="0"/>
              <a:buChar char="•"/>
            </a:pPr>
            <a:r>
              <a:rPr lang="en-US" sz="1600" dirty="0">
                <a:solidFill>
                  <a:srgbClr val="25225C"/>
                </a:solidFill>
              </a:rPr>
              <a:t>Less scalable compared to K-Means for large transaction data</a:t>
            </a:r>
          </a:p>
          <a:p>
            <a:pPr>
              <a:buNone/>
            </a:pPr>
            <a:r>
              <a:rPr lang="en-US" sz="2800" b="1" dirty="0">
                <a:solidFill>
                  <a:srgbClr val="25225C"/>
                </a:solidFill>
              </a:rPr>
              <a:t>DBSCAN</a:t>
            </a:r>
          </a:p>
          <a:p>
            <a:pPr>
              <a:buFont typeface="Arial" panose="020B0604020202020204" pitchFamily="34" charset="0"/>
              <a:buChar char="•"/>
            </a:pPr>
            <a:r>
              <a:rPr lang="en-US" sz="1600" dirty="0">
                <a:solidFill>
                  <a:srgbClr val="25225C"/>
                </a:solidFill>
              </a:rPr>
              <a:t>Recorded the </a:t>
            </a:r>
            <a:r>
              <a:rPr lang="en-US" sz="1600" b="1" dirty="0">
                <a:solidFill>
                  <a:srgbClr val="25225C"/>
                </a:solidFill>
              </a:rPr>
              <a:t>lowest Silhouette Score (0.29)</a:t>
            </a:r>
            <a:endParaRPr lang="en-US" sz="1600" dirty="0">
              <a:solidFill>
                <a:srgbClr val="25225C"/>
              </a:solidFill>
            </a:endParaRPr>
          </a:p>
          <a:p>
            <a:pPr>
              <a:buFont typeface="Arial" panose="020B0604020202020204" pitchFamily="34" charset="0"/>
              <a:buChar char="•"/>
            </a:pPr>
            <a:r>
              <a:rPr lang="en-US" sz="1600" dirty="0">
                <a:solidFill>
                  <a:srgbClr val="25225C"/>
                </a:solidFill>
              </a:rPr>
              <a:t>Effective in detecting </a:t>
            </a:r>
            <a:r>
              <a:rPr lang="en-US" sz="1600" b="1" dirty="0">
                <a:solidFill>
                  <a:srgbClr val="25225C"/>
                </a:solidFill>
              </a:rPr>
              <a:t>outliers and noise</a:t>
            </a:r>
            <a:endParaRPr lang="en-US" sz="1600" dirty="0">
              <a:solidFill>
                <a:srgbClr val="25225C"/>
              </a:solidFill>
            </a:endParaRPr>
          </a:p>
          <a:p>
            <a:pPr>
              <a:buFont typeface="Arial" panose="020B0604020202020204" pitchFamily="34" charset="0"/>
              <a:buChar char="•"/>
            </a:pPr>
            <a:r>
              <a:rPr lang="en-US" sz="1600" dirty="0">
                <a:solidFill>
                  <a:srgbClr val="25225C"/>
                </a:solidFill>
              </a:rPr>
              <a:t>Less suitable for defining clear customer segments in this dataset</a:t>
            </a:r>
          </a:p>
        </p:txBody>
      </p:sp>
      <p:pic>
        <p:nvPicPr>
          <p:cNvPr id="10" name="Picture 9">
            <a:extLst>
              <a:ext uri="{FF2B5EF4-FFF2-40B4-BE49-F238E27FC236}">
                <a16:creationId xmlns:a16="http://schemas.microsoft.com/office/drawing/2014/main" id="{EFB03B30-5E05-C813-89F9-23B34C895D36}"/>
              </a:ext>
            </a:extLst>
          </p:cNvPr>
          <p:cNvPicPr>
            <a:picLocks noChangeAspect="1"/>
          </p:cNvPicPr>
          <p:nvPr/>
        </p:nvPicPr>
        <p:blipFill>
          <a:blip r:embed="rId2"/>
          <a:stretch>
            <a:fillRect/>
          </a:stretch>
        </p:blipFill>
        <p:spPr>
          <a:xfrm>
            <a:off x="5486400" y="1627463"/>
            <a:ext cx="1013412" cy="1013412"/>
          </a:xfrm>
          <a:prstGeom prst="rect">
            <a:avLst/>
          </a:prstGeom>
        </p:spPr>
      </p:pic>
      <p:pic>
        <p:nvPicPr>
          <p:cNvPr id="12" name="Picture 11">
            <a:extLst>
              <a:ext uri="{FF2B5EF4-FFF2-40B4-BE49-F238E27FC236}">
                <a16:creationId xmlns:a16="http://schemas.microsoft.com/office/drawing/2014/main" id="{21B4F4EA-F386-EF5A-C0E0-62C90831C664}"/>
              </a:ext>
            </a:extLst>
          </p:cNvPr>
          <p:cNvPicPr>
            <a:picLocks noChangeAspect="1"/>
          </p:cNvPicPr>
          <p:nvPr/>
        </p:nvPicPr>
        <p:blipFill>
          <a:blip r:embed="rId3"/>
          <a:stretch>
            <a:fillRect/>
          </a:stretch>
        </p:blipFill>
        <p:spPr>
          <a:xfrm>
            <a:off x="7117176" y="1489687"/>
            <a:ext cx="4671012" cy="380281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219656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6BAC0A9-F882-32A2-1D29-94509DDE9466}"/>
              </a:ext>
            </a:extLst>
          </p:cNvPr>
          <p:cNvSpPr/>
          <p:nvPr/>
        </p:nvSpPr>
        <p:spPr>
          <a:xfrm>
            <a:off x="2108847" y="146577"/>
            <a:ext cx="7974306" cy="593097"/>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b="1" dirty="0"/>
              <a:t>Evaluation metrics</a:t>
            </a:r>
            <a:endParaRPr lang="en-US" sz="4800" b="1" dirty="0">
              <a:solidFill>
                <a:schemeClr val="dk1"/>
              </a:solidFill>
            </a:endParaRPr>
          </a:p>
        </p:txBody>
      </p:sp>
      <p:pic>
        <p:nvPicPr>
          <p:cNvPr id="6" name="Picture 5">
            <a:extLst>
              <a:ext uri="{FF2B5EF4-FFF2-40B4-BE49-F238E27FC236}">
                <a16:creationId xmlns:a16="http://schemas.microsoft.com/office/drawing/2014/main" id="{06E742DB-FE7C-7EA1-07E0-654D4ECF850D}"/>
              </a:ext>
            </a:extLst>
          </p:cNvPr>
          <p:cNvPicPr>
            <a:picLocks noChangeAspect="1"/>
          </p:cNvPicPr>
          <p:nvPr/>
        </p:nvPicPr>
        <p:blipFill>
          <a:blip r:embed="rId2"/>
          <a:stretch>
            <a:fillRect/>
          </a:stretch>
        </p:blipFill>
        <p:spPr>
          <a:xfrm>
            <a:off x="6954100" y="855464"/>
            <a:ext cx="3497666" cy="1682942"/>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8" name="Picture 7">
            <a:extLst>
              <a:ext uri="{FF2B5EF4-FFF2-40B4-BE49-F238E27FC236}">
                <a16:creationId xmlns:a16="http://schemas.microsoft.com/office/drawing/2014/main" id="{A3EE3316-CF04-A201-BDC4-CA47E8841284}"/>
              </a:ext>
            </a:extLst>
          </p:cNvPr>
          <p:cNvPicPr>
            <a:picLocks noChangeAspect="1"/>
          </p:cNvPicPr>
          <p:nvPr/>
        </p:nvPicPr>
        <p:blipFill>
          <a:blip r:embed="rId3"/>
          <a:stretch>
            <a:fillRect/>
          </a:stretch>
        </p:blipFill>
        <p:spPr>
          <a:xfrm>
            <a:off x="8166019" y="2538406"/>
            <a:ext cx="3834268" cy="1781188"/>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10" name="Picture 9">
            <a:extLst>
              <a:ext uri="{FF2B5EF4-FFF2-40B4-BE49-F238E27FC236}">
                <a16:creationId xmlns:a16="http://schemas.microsoft.com/office/drawing/2014/main" id="{3462E2D6-47EA-C3F9-D167-F2B016B2EB35}"/>
              </a:ext>
            </a:extLst>
          </p:cNvPr>
          <p:cNvPicPr>
            <a:picLocks noChangeAspect="1"/>
          </p:cNvPicPr>
          <p:nvPr/>
        </p:nvPicPr>
        <p:blipFill>
          <a:blip r:embed="rId4"/>
          <a:stretch>
            <a:fillRect/>
          </a:stretch>
        </p:blipFill>
        <p:spPr>
          <a:xfrm>
            <a:off x="5796829" y="4265502"/>
            <a:ext cx="3638577" cy="1885964"/>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12" name="TextBox 11">
            <a:extLst>
              <a:ext uri="{FF2B5EF4-FFF2-40B4-BE49-F238E27FC236}">
                <a16:creationId xmlns:a16="http://schemas.microsoft.com/office/drawing/2014/main" id="{6956B9EB-AA1D-E78C-D6CA-FD42C35F085B}"/>
              </a:ext>
            </a:extLst>
          </p:cNvPr>
          <p:cNvSpPr txBox="1"/>
          <p:nvPr/>
        </p:nvSpPr>
        <p:spPr>
          <a:xfrm>
            <a:off x="80007" y="1424315"/>
            <a:ext cx="6095028" cy="3416320"/>
          </a:xfrm>
          <a:prstGeom prst="rect">
            <a:avLst/>
          </a:prstGeom>
          <a:ln>
            <a:solidFill>
              <a:srgbClr val="1C1A55"/>
            </a:solidFill>
          </a:ln>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b="1" dirty="0"/>
              <a:t>Model Performance Comparison</a:t>
            </a:r>
          </a:p>
          <a:p>
            <a:pPr>
              <a:buNone/>
            </a:pPr>
            <a:r>
              <a:rPr lang="en-US" dirty="0"/>
              <a:t>Three models were evaluated using </a:t>
            </a:r>
            <a:r>
              <a:rPr lang="en-US" b="1" dirty="0"/>
              <a:t>accuracy, precision, recall, and F1-score</a:t>
            </a:r>
            <a:r>
              <a:rPr lang="en-US" dirty="0"/>
              <a:t>.</a:t>
            </a:r>
          </a:p>
          <a:p>
            <a:pPr>
              <a:buFont typeface="Arial" panose="020B0604020202020204" pitchFamily="34" charset="0"/>
              <a:buChar char="•"/>
            </a:pPr>
            <a:r>
              <a:rPr lang="en-US" b="1" dirty="0"/>
              <a:t>Model 1 (Logistic Regression)</a:t>
            </a:r>
            <a:r>
              <a:rPr lang="en-US" dirty="0"/>
              <a:t> – ~93% accuracy</a:t>
            </a:r>
            <a:br>
              <a:rPr lang="en-US" dirty="0"/>
            </a:br>
            <a:r>
              <a:rPr lang="en-US" dirty="0"/>
              <a:t>Reliable baseline with balanced performance; lower recall for some classes.</a:t>
            </a:r>
          </a:p>
          <a:p>
            <a:pPr>
              <a:buFont typeface="Arial" panose="020B0604020202020204" pitchFamily="34" charset="0"/>
              <a:buChar char="•"/>
            </a:pPr>
            <a:r>
              <a:rPr lang="en-US" b="1" dirty="0"/>
              <a:t>Model 2 (Random Forest)</a:t>
            </a:r>
            <a:r>
              <a:rPr lang="en-US" dirty="0"/>
              <a:t> – ~98% accuracy</a:t>
            </a:r>
            <a:br>
              <a:rPr lang="en-US" dirty="0"/>
            </a:br>
            <a:r>
              <a:rPr lang="en-US" dirty="0"/>
              <a:t>Highest precision, recall, and F1-score; most consistent across classes.</a:t>
            </a:r>
          </a:p>
          <a:p>
            <a:pPr>
              <a:buFont typeface="Arial" panose="020B0604020202020204" pitchFamily="34" charset="0"/>
              <a:buChar char="•"/>
            </a:pPr>
            <a:r>
              <a:rPr lang="en-US" b="1" dirty="0"/>
              <a:t>Model 3 (</a:t>
            </a:r>
            <a:r>
              <a:rPr lang="en-US" dirty="0"/>
              <a:t>Decision Tree Classifier</a:t>
            </a:r>
            <a:r>
              <a:rPr lang="en-US" b="1" dirty="0"/>
              <a:t>)</a:t>
            </a:r>
            <a:r>
              <a:rPr lang="en-US" dirty="0"/>
              <a:t> – ~97% accuracy</a:t>
            </a:r>
            <a:br>
              <a:rPr lang="en-US" dirty="0"/>
            </a:br>
            <a:r>
              <a:rPr lang="en-US" dirty="0"/>
              <a:t>Strong and stable performance; slightly below Model 2 but better than baseline.</a:t>
            </a:r>
          </a:p>
        </p:txBody>
      </p:sp>
    </p:spTree>
    <p:extLst>
      <p:ext uri="{BB962C8B-B14F-4D97-AF65-F5344CB8AC3E}">
        <p14:creationId xmlns:p14="http://schemas.microsoft.com/office/powerpoint/2010/main" val="2167482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BBEED0-DBA7-3E19-87F4-74ED940757E7}"/>
              </a:ext>
            </a:extLst>
          </p:cNvPr>
          <p:cNvPicPr>
            <a:picLocks noChangeAspect="1"/>
          </p:cNvPicPr>
          <p:nvPr/>
        </p:nvPicPr>
        <p:blipFill>
          <a:blip r:embed="rId2"/>
          <a:stretch>
            <a:fillRect/>
          </a:stretch>
        </p:blipFill>
        <p:spPr>
          <a:xfrm>
            <a:off x="5762500" y="1933688"/>
            <a:ext cx="5721808" cy="353524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7" name="TextBox 6">
            <a:extLst>
              <a:ext uri="{FF2B5EF4-FFF2-40B4-BE49-F238E27FC236}">
                <a16:creationId xmlns:a16="http://schemas.microsoft.com/office/drawing/2014/main" id="{B9AAC61C-07E3-08E2-D478-9F3082C814C4}"/>
              </a:ext>
            </a:extLst>
          </p:cNvPr>
          <p:cNvSpPr txBox="1"/>
          <p:nvPr/>
        </p:nvSpPr>
        <p:spPr>
          <a:xfrm>
            <a:off x="99011" y="1258807"/>
            <a:ext cx="8676607" cy="4708981"/>
          </a:xfrm>
          <a:prstGeom prst="rect">
            <a:avLst/>
          </a:prstGeom>
          <a:noFill/>
        </p:spPr>
        <p:txBody>
          <a:bodyPr wrap="square">
            <a:spAutoFit/>
          </a:bodyPr>
          <a:lstStyle/>
          <a:p>
            <a:pPr>
              <a:buNone/>
            </a:pPr>
            <a:r>
              <a:rPr lang="en-US" sz="1600" dirty="0"/>
              <a:t>Three machine learning models were evaluated using </a:t>
            </a:r>
            <a:r>
              <a:rPr lang="en-US" sz="1600" b="1" dirty="0"/>
              <a:t>10-fold cross-validation</a:t>
            </a:r>
            <a:r>
              <a:rPr lang="en-US" sz="1600" dirty="0"/>
              <a:t>, focusing on </a:t>
            </a:r>
            <a:r>
              <a:rPr lang="en-US" sz="1600" b="1" dirty="0"/>
              <a:t>mean accuracy and stability (standard deviation)</a:t>
            </a:r>
            <a:r>
              <a:rPr lang="en-US" sz="1600" dirty="0"/>
              <a:t>.</a:t>
            </a:r>
          </a:p>
          <a:p>
            <a:pPr>
              <a:buNone/>
            </a:pPr>
            <a:endParaRPr lang="en-US" sz="1600" b="1" dirty="0"/>
          </a:p>
          <a:p>
            <a:pPr>
              <a:buNone/>
            </a:pPr>
            <a:r>
              <a:rPr lang="en-US" sz="1600" b="1" dirty="0"/>
              <a:t>Model 1 – Logistic Regression</a:t>
            </a:r>
          </a:p>
          <a:p>
            <a:pPr>
              <a:buFont typeface="Arial" panose="020B0604020202020204" pitchFamily="34" charset="0"/>
              <a:buChar char="•"/>
            </a:pPr>
            <a:r>
              <a:rPr lang="en-US" sz="1400" b="1" dirty="0"/>
              <a:t>Mean Accuracy:</a:t>
            </a:r>
            <a:r>
              <a:rPr lang="en-US" sz="1400" dirty="0"/>
              <a:t> 94.8%</a:t>
            </a:r>
          </a:p>
          <a:p>
            <a:pPr>
              <a:buFont typeface="Arial" panose="020B0604020202020204" pitchFamily="34" charset="0"/>
              <a:buChar char="•"/>
            </a:pPr>
            <a:r>
              <a:rPr lang="en-US" sz="1400" b="1" dirty="0"/>
              <a:t>Std. Deviation:</a:t>
            </a:r>
            <a:r>
              <a:rPr lang="en-US" sz="1400" dirty="0"/>
              <a:t> 0.014</a:t>
            </a:r>
          </a:p>
          <a:p>
            <a:pPr>
              <a:buFont typeface="Arial" panose="020B0604020202020204" pitchFamily="34" charset="0"/>
              <a:buChar char="•"/>
            </a:pPr>
            <a:r>
              <a:rPr lang="en-US" sz="1400" dirty="0"/>
              <a:t>Serves as a </a:t>
            </a:r>
            <a:r>
              <a:rPr lang="en-US" sz="1400" b="1" dirty="0"/>
              <a:t>strong and interpretable baseline</a:t>
            </a:r>
            <a:endParaRPr lang="en-US" sz="1400" dirty="0"/>
          </a:p>
          <a:p>
            <a:pPr>
              <a:buFont typeface="Arial" panose="020B0604020202020204" pitchFamily="34" charset="0"/>
              <a:buChar char="•"/>
            </a:pPr>
            <a:r>
              <a:rPr lang="en-US" sz="1400" dirty="0"/>
              <a:t>Slightly higher variability compared to tree-based models</a:t>
            </a:r>
          </a:p>
          <a:p>
            <a:pPr>
              <a:buNone/>
            </a:pPr>
            <a:br>
              <a:rPr lang="en-US" dirty="0"/>
            </a:br>
            <a:r>
              <a:rPr lang="en-US" sz="1600" b="1" dirty="0"/>
              <a:t>Model 2 – Random Forest (Best Performer)</a:t>
            </a:r>
          </a:p>
          <a:p>
            <a:pPr>
              <a:buFont typeface="Arial" panose="020B0604020202020204" pitchFamily="34" charset="0"/>
              <a:buChar char="•"/>
            </a:pPr>
            <a:r>
              <a:rPr lang="en-US" sz="1400" b="1" dirty="0"/>
              <a:t>Mean Accuracy:</a:t>
            </a:r>
            <a:r>
              <a:rPr lang="en-US" sz="1400" dirty="0"/>
              <a:t> </a:t>
            </a:r>
            <a:r>
              <a:rPr lang="en-US" sz="1400" b="1" dirty="0"/>
              <a:t>97.8%</a:t>
            </a:r>
            <a:endParaRPr lang="en-US" sz="1400" dirty="0"/>
          </a:p>
          <a:p>
            <a:pPr>
              <a:buFont typeface="Arial" panose="020B0604020202020204" pitchFamily="34" charset="0"/>
              <a:buChar char="•"/>
            </a:pPr>
            <a:r>
              <a:rPr lang="en-US" sz="1400" b="1" dirty="0"/>
              <a:t>Std. Deviation:</a:t>
            </a:r>
            <a:r>
              <a:rPr lang="en-US" sz="1400" dirty="0"/>
              <a:t> </a:t>
            </a:r>
            <a:r>
              <a:rPr lang="en-US" sz="1400" b="1" dirty="0"/>
              <a:t>0.007</a:t>
            </a:r>
            <a:endParaRPr lang="en-US" sz="1400" dirty="0"/>
          </a:p>
          <a:p>
            <a:pPr>
              <a:buFont typeface="Arial" panose="020B0604020202020204" pitchFamily="34" charset="0"/>
              <a:buChar char="•"/>
            </a:pPr>
            <a:r>
              <a:rPr lang="en-US" sz="1400" b="1" dirty="0"/>
              <a:t>Highest accuracy with the lowest variance</a:t>
            </a:r>
            <a:endParaRPr lang="en-US" sz="1400" dirty="0"/>
          </a:p>
          <a:p>
            <a:pPr>
              <a:buFont typeface="Arial" panose="020B0604020202020204" pitchFamily="34" charset="0"/>
              <a:buChar char="•"/>
            </a:pPr>
            <a:r>
              <a:rPr lang="en-US" sz="1400" dirty="0"/>
              <a:t>Most </a:t>
            </a:r>
            <a:r>
              <a:rPr lang="en-US" sz="1400" b="1" dirty="0"/>
              <a:t>robust and consistent</a:t>
            </a:r>
            <a:r>
              <a:rPr lang="en-US" sz="1400" dirty="0"/>
              <a:t> across folds</a:t>
            </a:r>
          </a:p>
          <a:p>
            <a:pPr>
              <a:buNone/>
            </a:pPr>
            <a:br>
              <a:rPr lang="en-US" dirty="0"/>
            </a:br>
            <a:r>
              <a:rPr lang="en-US" sz="1600" b="1" dirty="0"/>
              <a:t>Model 3 – Decision Tree Classifier</a:t>
            </a:r>
          </a:p>
          <a:p>
            <a:pPr>
              <a:buFont typeface="Arial" panose="020B0604020202020204" pitchFamily="34" charset="0"/>
              <a:buChar char="•"/>
            </a:pPr>
            <a:r>
              <a:rPr lang="en-US" sz="1400" b="1" dirty="0"/>
              <a:t>Mean Accuracy:</a:t>
            </a:r>
            <a:r>
              <a:rPr lang="en-US" sz="1400" dirty="0"/>
              <a:t> 96.1%</a:t>
            </a:r>
          </a:p>
          <a:p>
            <a:pPr>
              <a:buFont typeface="Arial" panose="020B0604020202020204" pitchFamily="34" charset="0"/>
              <a:buChar char="•"/>
            </a:pPr>
            <a:r>
              <a:rPr lang="en-US" sz="1400" b="1" dirty="0"/>
              <a:t>Std. Deviation:</a:t>
            </a:r>
            <a:r>
              <a:rPr lang="en-US" sz="1400" dirty="0"/>
              <a:t> 0.009</a:t>
            </a:r>
          </a:p>
          <a:p>
            <a:pPr>
              <a:buFont typeface="Arial" panose="020B0604020202020204" pitchFamily="34" charset="0"/>
              <a:buChar char="•"/>
            </a:pPr>
            <a:r>
              <a:rPr lang="en-US" sz="1400" dirty="0"/>
              <a:t>Good balance between performance and simplicity</a:t>
            </a:r>
          </a:p>
          <a:p>
            <a:pPr>
              <a:buFont typeface="Arial" panose="020B0604020202020204" pitchFamily="34" charset="0"/>
              <a:buChar char="•"/>
            </a:pPr>
            <a:r>
              <a:rPr lang="en-US" sz="1400" dirty="0"/>
              <a:t>Slightly lower accuracy than Random Forest, but more stable than baseline</a:t>
            </a:r>
          </a:p>
        </p:txBody>
      </p:sp>
      <p:sp>
        <p:nvSpPr>
          <p:cNvPr id="8" name="Rectangle: Rounded Corners 7">
            <a:extLst>
              <a:ext uri="{FF2B5EF4-FFF2-40B4-BE49-F238E27FC236}">
                <a16:creationId xmlns:a16="http://schemas.microsoft.com/office/drawing/2014/main" id="{BC71F3E4-C4C4-E3F2-020F-5E3E2CD0B3BF}"/>
              </a:ext>
            </a:extLst>
          </p:cNvPr>
          <p:cNvSpPr/>
          <p:nvPr/>
        </p:nvSpPr>
        <p:spPr>
          <a:xfrm>
            <a:off x="2108847" y="297115"/>
            <a:ext cx="7974306" cy="593097"/>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b="1" dirty="0"/>
              <a:t>Model Comparison</a:t>
            </a:r>
            <a:endParaRPr lang="en-US" sz="4800" b="1" dirty="0">
              <a:solidFill>
                <a:schemeClr val="dk1"/>
              </a:solidFill>
            </a:endParaRPr>
          </a:p>
        </p:txBody>
      </p:sp>
    </p:spTree>
    <p:extLst>
      <p:ext uri="{BB962C8B-B14F-4D97-AF65-F5344CB8AC3E}">
        <p14:creationId xmlns:p14="http://schemas.microsoft.com/office/powerpoint/2010/main" val="3279104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B54468-E48D-E997-5FE3-DC236130BE2F}"/>
              </a:ext>
            </a:extLst>
          </p:cNvPr>
          <p:cNvSpPr>
            <a:spLocks noGrp="1"/>
          </p:cNvSpPr>
          <p:nvPr>
            <p:ph idx="1"/>
          </p:nvPr>
        </p:nvSpPr>
        <p:spPr>
          <a:xfrm>
            <a:off x="300311" y="1170079"/>
            <a:ext cx="6787746" cy="4636704"/>
          </a:xfrm>
          <a:ln>
            <a:solidFill>
              <a:srgbClr val="201F58"/>
            </a:solidFill>
          </a:ln>
        </p:spPr>
        <p:style>
          <a:lnRef idx="2">
            <a:schemeClr val="accent1"/>
          </a:lnRef>
          <a:fillRef idx="1">
            <a:schemeClr val="lt1"/>
          </a:fillRef>
          <a:effectRef idx="0">
            <a:schemeClr val="accent1"/>
          </a:effectRef>
          <a:fontRef idx="minor">
            <a:schemeClr val="dk1"/>
          </a:fontRef>
        </p:style>
        <p:txBody>
          <a:bodyPr>
            <a:normAutofit fontScale="77500" lnSpcReduction="20000"/>
          </a:bodyPr>
          <a:lstStyle/>
          <a:p>
            <a:pPr marL="0" indent="0">
              <a:buNone/>
            </a:pPr>
            <a:r>
              <a:rPr lang="en-US" b="1" dirty="0">
                <a:solidFill>
                  <a:srgbClr val="1C1A56"/>
                </a:solidFill>
              </a:rPr>
              <a:t>Why this model was selected:</a:t>
            </a:r>
            <a:endParaRPr lang="en-US" dirty="0">
              <a:solidFill>
                <a:srgbClr val="1C1A56"/>
              </a:solidFill>
            </a:endParaRPr>
          </a:p>
          <a:p>
            <a:r>
              <a:rPr lang="en-US" sz="2400" b="1" dirty="0">
                <a:solidFill>
                  <a:srgbClr val="1C1A56"/>
                </a:solidFill>
              </a:rPr>
              <a:t>High Accuracy (98.27%)</a:t>
            </a:r>
            <a:br>
              <a:rPr lang="en-US" dirty="0">
                <a:solidFill>
                  <a:srgbClr val="1C1A56"/>
                </a:solidFill>
              </a:rPr>
            </a:br>
            <a:r>
              <a:rPr lang="en-US" sz="1900" dirty="0">
                <a:solidFill>
                  <a:srgbClr val="1C1A56"/>
                </a:solidFill>
              </a:rPr>
              <a:t>Indicates excellent overall predictive performance.</a:t>
            </a:r>
          </a:p>
          <a:p>
            <a:endParaRPr lang="en-US" sz="1900" dirty="0">
              <a:solidFill>
                <a:srgbClr val="1C1A56"/>
              </a:solidFill>
            </a:endParaRPr>
          </a:p>
          <a:p>
            <a:r>
              <a:rPr lang="en-US" sz="2400" b="1" dirty="0">
                <a:solidFill>
                  <a:srgbClr val="1C1A56"/>
                </a:solidFill>
              </a:rPr>
              <a:t>Strong and Consistent Recall (~0.98 across classes)</a:t>
            </a:r>
            <a:br>
              <a:rPr lang="en-US" dirty="0">
                <a:solidFill>
                  <a:srgbClr val="1C1A56"/>
                </a:solidFill>
              </a:rPr>
            </a:br>
            <a:r>
              <a:rPr lang="en-US" sz="1900" dirty="0">
                <a:solidFill>
                  <a:srgbClr val="1C1A56"/>
                </a:solidFill>
              </a:rPr>
              <a:t>Ensures most actual customer classes are correctly identified, minimizing missed predictions.</a:t>
            </a:r>
          </a:p>
          <a:p>
            <a:endParaRPr lang="en-US" sz="1900" dirty="0">
              <a:solidFill>
                <a:srgbClr val="1C1A56"/>
              </a:solidFill>
            </a:endParaRPr>
          </a:p>
          <a:p>
            <a:r>
              <a:rPr lang="en-US" sz="2200" b="1" dirty="0">
                <a:solidFill>
                  <a:srgbClr val="1C1A56"/>
                </a:solidFill>
              </a:rPr>
              <a:t>Excellent F1-Score (~0.98)</a:t>
            </a:r>
            <a:br>
              <a:rPr lang="en-US" dirty="0">
                <a:solidFill>
                  <a:srgbClr val="1C1A56"/>
                </a:solidFill>
              </a:rPr>
            </a:br>
            <a:r>
              <a:rPr lang="en-US" sz="1700" dirty="0">
                <a:solidFill>
                  <a:srgbClr val="1C1A56"/>
                </a:solidFill>
              </a:rPr>
              <a:t>Demonstrates a strong balance between precision and recall across all classes.</a:t>
            </a:r>
          </a:p>
          <a:p>
            <a:endParaRPr lang="en-US" sz="1700" dirty="0">
              <a:solidFill>
                <a:srgbClr val="1C1A56"/>
              </a:solidFill>
            </a:endParaRPr>
          </a:p>
          <a:p>
            <a:endParaRPr lang="en-US" sz="1700" dirty="0">
              <a:solidFill>
                <a:srgbClr val="1C1A56"/>
              </a:solidFill>
            </a:endParaRPr>
          </a:p>
          <a:p>
            <a:r>
              <a:rPr lang="en-US" sz="2200" b="1" dirty="0">
                <a:solidFill>
                  <a:srgbClr val="1C1A56"/>
                </a:solidFill>
              </a:rPr>
              <a:t>Robust Class-wise Performance</a:t>
            </a:r>
            <a:br>
              <a:rPr lang="en-US" dirty="0">
                <a:solidFill>
                  <a:srgbClr val="1C1A56"/>
                </a:solidFill>
              </a:rPr>
            </a:br>
            <a:r>
              <a:rPr lang="en-US" sz="1700" dirty="0">
                <a:solidFill>
                  <a:srgbClr val="1C1A56"/>
                </a:solidFill>
              </a:rPr>
              <a:t>High precision (0.97–0.99) and recall (0.97–1.00) show consistent performance with minimal misclassification.</a:t>
            </a:r>
          </a:p>
          <a:p>
            <a:endParaRPr lang="en-US" sz="1700" dirty="0">
              <a:solidFill>
                <a:srgbClr val="1C1A56"/>
              </a:solidFill>
            </a:endParaRPr>
          </a:p>
          <a:p>
            <a:r>
              <a:rPr lang="en-US" sz="2000" b="1" dirty="0">
                <a:solidFill>
                  <a:srgbClr val="1C1A56"/>
                </a:solidFill>
              </a:rPr>
              <a:t>Reliable Generalization</a:t>
            </a:r>
            <a:br>
              <a:rPr lang="en-US" dirty="0">
                <a:solidFill>
                  <a:srgbClr val="1C1A56"/>
                </a:solidFill>
              </a:rPr>
            </a:br>
            <a:r>
              <a:rPr lang="en-US" sz="1600" dirty="0">
                <a:solidFill>
                  <a:srgbClr val="1C1A56"/>
                </a:solidFill>
              </a:rPr>
              <a:t>Strong macro and weighted averages confirm stability across different customer segments.</a:t>
            </a:r>
          </a:p>
          <a:p>
            <a:endParaRPr lang="en-US" dirty="0">
              <a:solidFill>
                <a:srgbClr val="1C1A56"/>
              </a:solidFill>
            </a:endParaRPr>
          </a:p>
        </p:txBody>
      </p:sp>
      <p:pic>
        <p:nvPicPr>
          <p:cNvPr id="5" name="Picture 4">
            <a:extLst>
              <a:ext uri="{FF2B5EF4-FFF2-40B4-BE49-F238E27FC236}">
                <a16:creationId xmlns:a16="http://schemas.microsoft.com/office/drawing/2014/main" id="{35859B7E-574F-6C47-40C7-640FD890D489}"/>
              </a:ext>
            </a:extLst>
          </p:cNvPr>
          <p:cNvPicPr>
            <a:picLocks noChangeAspect="1"/>
          </p:cNvPicPr>
          <p:nvPr/>
        </p:nvPicPr>
        <p:blipFill>
          <a:blip r:embed="rId2"/>
          <a:stretch>
            <a:fillRect/>
          </a:stretch>
        </p:blipFill>
        <p:spPr>
          <a:xfrm>
            <a:off x="7658827" y="1170079"/>
            <a:ext cx="3884745" cy="4636704"/>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6" name="Rectangle: Rounded Corners 5">
            <a:extLst>
              <a:ext uri="{FF2B5EF4-FFF2-40B4-BE49-F238E27FC236}">
                <a16:creationId xmlns:a16="http://schemas.microsoft.com/office/drawing/2014/main" id="{2DB90279-A7B2-A8DE-86C7-7A34E7E228C5}"/>
              </a:ext>
            </a:extLst>
          </p:cNvPr>
          <p:cNvSpPr/>
          <p:nvPr/>
        </p:nvSpPr>
        <p:spPr>
          <a:xfrm>
            <a:off x="2108847" y="297115"/>
            <a:ext cx="7974306" cy="593097"/>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4800" b="1" dirty="0">
                <a:solidFill>
                  <a:schemeClr val="dk1"/>
                </a:solidFill>
              </a:rPr>
              <a:t>Best Model</a:t>
            </a:r>
          </a:p>
        </p:txBody>
      </p:sp>
    </p:spTree>
    <p:extLst>
      <p:ext uri="{BB962C8B-B14F-4D97-AF65-F5344CB8AC3E}">
        <p14:creationId xmlns:p14="http://schemas.microsoft.com/office/powerpoint/2010/main" val="4287226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87DAEBD-058A-355A-E701-FDCCC3E2690C}"/>
              </a:ext>
            </a:extLst>
          </p:cNvPr>
          <p:cNvSpPr/>
          <p:nvPr/>
        </p:nvSpPr>
        <p:spPr>
          <a:xfrm>
            <a:off x="2108847" y="146577"/>
            <a:ext cx="7974306" cy="914400"/>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b="1" dirty="0"/>
              <a:t>Conclusion</a:t>
            </a:r>
            <a:endParaRPr lang="en-US" sz="4800" b="1" dirty="0">
              <a:solidFill>
                <a:schemeClr val="dk1"/>
              </a:solidFill>
            </a:endParaRPr>
          </a:p>
        </p:txBody>
      </p:sp>
      <p:sp>
        <p:nvSpPr>
          <p:cNvPr id="3" name="TextBox 2">
            <a:extLst>
              <a:ext uri="{FF2B5EF4-FFF2-40B4-BE49-F238E27FC236}">
                <a16:creationId xmlns:a16="http://schemas.microsoft.com/office/drawing/2014/main" id="{AF201417-34BD-345C-357C-A80937A9CA89}"/>
              </a:ext>
            </a:extLst>
          </p:cNvPr>
          <p:cNvSpPr txBox="1"/>
          <p:nvPr/>
        </p:nvSpPr>
        <p:spPr>
          <a:xfrm>
            <a:off x="535828" y="1625264"/>
            <a:ext cx="5072880" cy="3970318"/>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1C1A55"/>
                </a:solidFill>
              </a:rPr>
              <a:t>This project leveraged machine learning to segment e-commerce customers using RFM analysis, enabling clear identification of high-value, loyal, and at-risk customer groups.</a:t>
            </a:r>
          </a:p>
          <a:p>
            <a:pPr marL="285750" indent="-285750">
              <a:buFont typeface="Arial" panose="020B0604020202020204" pitchFamily="34" charset="0"/>
              <a:buChar char="•"/>
            </a:pPr>
            <a:endParaRPr lang="en-US" dirty="0">
              <a:solidFill>
                <a:srgbClr val="1C1A55"/>
              </a:solidFill>
            </a:endParaRPr>
          </a:p>
          <a:p>
            <a:pPr marL="285750" indent="-285750">
              <a:buFont typeface="Arial" panose="020B0604020202020204" pitchFamily="34" charset="0"/>
              <a:buChar char="•"/>
            </a:pPr>
            <a:r>
              <a:rPr lang="en-US" dirty="0">
                <a:solidFill>
                  <a:srgbClr val="1C1A55"/>
                </a:solidFill>
              </a:rPr>
              <a:t>K-Means delivered the most actionable customer segments, while the Random Forest model achieved high predictive accuracy and consistent performance.</a:t>
            </a:r>
          </a:p>
          <a:p>
            <a:pPr marL="285750" indent="-285750">
              <a:buFont typeface="Arial" panose="020B0604020202020204" pitchFamily="34" charset="0"/>
              <a:buChar char="•"/>
            </a:pPr>
            <a:endParaRPr lang="en-US" dirty="0">
              <a:solidFill>
                <a:srgbClr val="1C1A55"/>
              </a:solidFill>
            </a:endParaRPr>
          </a:p>
          <a:p>
            <a:pPr marL="285750" indent="-285750">
              <a:buFont typeface="Arial" panose="020B0604020202020204" pitchFamily="34" charset="0"/>
              <a:buChar char="•"/>
            </a:pPr>
            <a:r>
              <a:rPr lang="en-US" dirty="0">
                <a:solidFill>
                  <a:srgbClr val="1C1A55"/>
                </a:solidFill>
              </a:rPr>
              <a:t>Overall, the solution supports targeted marketing, improved customer retention, and optimized inventory planning through data-driven insights.</a:t>
            </a:r>
          </a:p>
        </p:txBody>
      </p:sp>
    </p:spTree>
    <p:extLst>
      <p:ext uri="{BB962C8B-B14F-4D97-AF65-F5344CB8AC3E}">
        <p14:creationId xmlns:p14="http://schemas.microsoft.com/office/powerpoint/2010/main" val="1344420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58666-5C64-EB5D-BA6D-388BF635250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B1A711D-7E59-8092-F506-ADD76CC5E79B}"/>
              </a:ext>
            </a:extLst>
          </p:cNvPr>
          <p:cNvPicPr>
            <a:picLocks noChangeAspect="1"/>
          </p:cNvPicPr>
          <p:nvPr/>
        </p:nvPicPr>
        <p:blipFill>
          <a:blip r:embed="rId2"/>
          <a:stretch>
            <a:fillRect/>
          </a:stretch>
        </p:blipFill>
        <p:spPr>
          <a:xfrm>
            <a:off x="4052854" y="934531"/>
            <a:ext cx="7933358" cy="4988938"/>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4" name="Rectangle: Rounded Corners 3">
            <a:extLst>
              <a:ext uri="{FF2B5EF4-FFF2-40B4-BE49-F238E27FC236}">
                <a16:creationId xmlns:a16="http://schemas.microsoft.com/office/drawing/2014/main" id="{E77864E7-520E-1F44-DC28-09A200EDA023}"/>
              </a:ext>
            </a:extLst>
          </p:cNvPr>
          <p:cNvSpPr/>
          <p:nvPr/>
        </p:nvSpPr>
        <p:spPr>
          <a:xfrm>
            <a:off x="2108847" y="146577"/>
            <a:ext cx="7640870" cy="505734"/>
          </a:xfrm>
          <a:prstGeom prst="roundRect">
            <a:avLst/>
          </a:prstGeom>
          <a:solidFill>
            <a:schemeClr val="accent1">
              <a:lumMod val="20000"/>
              <a:lumOff val="80000"/>
            </a:schemeClr>
          </a:solidFill>
          <a:ln>
            <a:solidFill>
              <a:srgbClr val="1C1A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b="1" dirty="0"/>
              <a:t>Power BI Dashboard</a:t>
            </a:r>
            <a:endParaRPr lang="en-US" sz="4800" b="1" dirty="0">
              <a:solidFill>
                <a:schemeClr val="dk1"/>
              </a:solidFill>
            </a:endParaRPr>
          </a:p>
        </p:txBody>
      </p:sp>
      <p:pic>
        <p:nvPicPr>
          <p:cNvPr id="9" name="Picture 8">
            <a:extLst>
              <a:ext uri="{FF2B5EF4-FFF2-40B4-BE49-F238E27FC236}">
                <a16:creationId xmlns:a16="http://schemas.microsoft.com/office/drawing/2014/main" id="{06C8BE43-A731-608E-57D4-B5D730B08D7F}"/>
              </a:ext>
            </a:extLst>
          </p:cNvPr>
          <p:cNvPicPr>
            <a:picLocks noChangeAspect="1"/>
          </p:cNvPicPr>
          <p:nvPr/>
        </p:nvPicPr>
        <p:blipFill>
          <a:blip r:embed="rId3"/>
          <a:stretch>
            <a:fillRect/>
          </a:stretch>
        </p:blipFill>
        <p:spPr>
          <a:xfrm>
            <a:off x="1381513" y="934531"/>
            <a:ext cx="1647837" cy="4988938"/>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4081315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7527</TotalTime>
  <Words>956</Words>
  <Application>Microsoft Office PowerPoint</Application>
  <PresentationFormat>Widescreen</PresentationFormat>
  <Paragraphs>125</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BIA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Aditya Singh</cp:lastModifiedBy>
  <cp:revision>2267</cp:revision>
  <dcterms:created xsi:type="dcterms:W3CDTF">2020-12-23T13:36:00Z</dcterms:created>
  <dcterms:modified xsi:type="dcterms:W3CDTF">2026-02-01T08:30:44Z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